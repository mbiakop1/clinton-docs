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697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of this session: after 30 minutes, everyone can name any OCI resource correctly without inventing anything. Every name is built from seven fields, always in the same order. The rest of the deck walks through each field.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Operations: names appear in alarms, logs, cost reports and DNS; people read names, not OCIDs. Safety: ambiguous names cause mistakes on production. Governance: names built from fixed lists can be generated by Terraform and checked by the pipeline.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pattern to remember. Each field has a closed list of values, so you pick values instead of inventing spellings. The qualifier is the only field that is sometimes left out: it depends on the resource type. Global resources (IAM) also drop the region, covered later.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 is fixed: every name starts with cmr. Environment: development dev, six homologation environments hm1 to hm6, pre-production pre, production prd. Region: only two OCI regions are allowed, Casablanca (cas) and Johannesburg (jnb).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each homologation environment is currently used for (project, release, owner) is kept in the environment register, not in the name, so names never go out of date. DR is not an environment: a DR copy of production is production.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 is where the resource lives, not where users are. A DR copy in Johannesburg is jnb even though it protects a Casablanca workload. Keep the same number for a resource and its DR copy so the pair is obvious. Global resources span both regions, so they carry no region field.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OCI service has exactly one code. Do not abbreviate yourself: look it up in the Resource Type Codes workbook. If a service is missing, ask the Cloud CoE to add a code rather than inventing one.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code is owned by the Application Register. Two examples today: cbs and pay. The register owner assigns the rest. A code is never a customer name or a confidential project name because names appear in DNS, logs and support tickets.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resource types require a qualifier; the other 82 never take one. The qualifier describes the variant: OS family of a server, tier of a subnet, whether a load balancer faces the internet. Exactly one code, always from the list.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versions in server or database names: ol, not ol8, because an upgrade would make the name wrong. Only custom images include the version. Full list with "choose it when" for every code: OCI_Naming_Qualifier_Codes.xlsx and the qualifier guide.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replaces every "new", "old", "final", "v2" we see today. Pipelines allocate it explicitly in code.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field out loud. Point out that the qualifier was required because vm is in the qualifier list. The Name Builder sheet in the Excel workbook does exactly this with drop-down lists.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to read one or two names aloud before revealing the right column. This is the skill that pays off during incidents.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Exadata and Oracle databases have strict limits (12-character host prefix, 11-character cluster name, 8-character DB name). The standard defines one generated short form for each, so nobody invents short names by hand.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Compartments span both regions and hold several environments, so region and environment fields would be false. Their names appear in IAM policies, so they must be short and stable. Full-path names are unique in the tenancy. Details: OCI_Compartment_Naming_Guide.txt.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Names travel into DNS, logs, cost reports and support tickets. Never put customer names, confidential project names, security classifications or IP addresses in a name.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Pipelines use the Terraform naming module and reject non-compliant names automatically. For manual work, use the Name Builder sheet. Missing code? Ask the Cloud CoE; the registry is updated quickly.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and open for questions. Point colleagues to the toolkit files in the shared folder.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txBox="1"/>
          <p:nvPr/>
        </p:nvSpPr>
        <p:spPr>
          <a:xfrm>
            <a:off x="548640" y="1097280"/>
            <a:ext cx="8046720" cy="73152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Naming OCI resources</a:t>
            </a:r>
            <a:endParaRPr lang="en-US" sz="4000" dirty="0"/>
          </a:p>
        </p:txBody>
      </p:sp>
      <p:sp>
        <p:nvSpPr>
          <p:cNvPr id="3" name="Text 1"/>
          <p:cNvSpPr txBox="1"/>
          <p:nvPr/>
        </p:nvSpPr>
        <p:spPr>
          <a:xfrm>
            <a:off x="548640" y="1828800"/>
            <a:ext cx="8046720" cy="45720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How to build a correct name, every time</a:t>
            </a:r>
            <a:endParaRPr lang="en-US" sz="2000" dirty="0"/>
          </a:p>
        </p:txBody>
      </p:sp>
      <p:sp>
        <p:nvSpPr>
          <p:cNvPr id="4" name="Shape 2"/>
          <p:cNvSpPr/>
          <p:nvPr/>
        </p:nvSpPr>
        <p:spPr>
          <a:xfrm>
            <a:off x="548640" y="2834640"/>
            <a:ext cx="960120" cy="502920"/>
          </a:xfrm>
          <a:prstGeom prst="roundRect">
            <a:avLst>
              <a:gd name="adj" fmla="val 14545"/>
            </a:avLst>
          </a:prstGeom>
          <a:solidFill>
            <a:srgbClr val="2E3F6E"/>
          </a:solidFill>
          <a:ln w="12700">
            <a:solidFill>
              <a:srgbClr val="2E3F6E"/>
            </a:solidFill>
            <a:prstDash val="solid"/>
          </a:ln>
        </p:spPr>
      </p:sp>
      <p:sp>
        <p:nvSpPr>
          <p:cNvPr id="5" name="Text 3"/>
          <p:cNvSpPr txBox="1"/>
          <p:nvPr/>
        </p:nvSpPr>
        <p:spPr>
          <a:xfrm>
            <a:off x="548640" y="2834640"/>
            <a:ext cx="9601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cmr</a:t>
            </a:r>
            <a:endParaRPr lang="en-US" sz="1600" dirty="0"/>
          </a:p>
        </p:txBody>
      </p:sp>
      <p:sp>
        <p:nvSpPr>
          <p:cNvPr id="6" name="Shape 4"/>
          <p:cNvSpPr/>
          <p:nvPr/>
        </p:nvSpPr>
        <p:spPr>
          <a:xfrm>
            <a:off x="1645920" y="2834640"/>
            <a:ext cx="960120" cy="502920"/>
          </a:xfrm>
          <a:prstGeom prst="roundRect">
            <a:avLst>
              <a:gd name="adj" fmla="val 14545"/>
            </a:avLst>
          </a:prstGeom>
          <a:solidFill>
            <a:srgbClr val="0F7B8A"/>
          </a:solidFill>
          <a:ln w="12700">
            <a:solidFill>
              <a:srgbClr val="0F7B8A"/>
            </a:solidFill>
            <a:prstDash val="solid"/>
          </a:ln>
        </p:spPr>
      </p:sp>
      <p:sp>
        <p:nvSpPr>
          <p:cNvPr id="7" name="Text 5"/>
          <p:cNvSpPr txBox="1"/>
          <p:nvPr/>
        </p:nvSpPr>
        <p:spPr>
          <a:xfrm>
            <a:off x="1645920" y="2834640"/>
            <a:ext cx="9601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prd</a:t>
            </a:r>
            <a:endParaRPr lang="en-US" sz="1600" dirty="0"/>
          </a:p>
        </p:txBody>
      </p:sp>
      <p:sp>
        <p:nvSpPr>
          <p:cNvPr id="8" name="Shape 6"/>
          <p:cNvSpPr/>
          <p:nvPr/>
        </p:nvSpPr>
        <p:spPr>
          <a:xfrm>
            <a:off x="2743200" y="2834640"/>
            <a:ext cx="960120" cy="502920"/>
          </a:xfrm>
          <a:prstGeom prst="roundRect">
            <a:avLst>
              <a:gd name="adj" fmla="val 14545"/>
            </a:avLst>
          </a:prstGeom>
          <a:solidFill>
            <a:srgbClr val="6A4C93"/>
          </a:solidFill>
          <a:ln w="12700">
            <a:solidFill>
              <a:srgbClr val="6A4C93"/>
            </a:solidFill>
            <a:prstDash val="solid"/>
          </a:ln>
        </p:spPr>
      </p:sp>
      <p:sp>
        <p:nvSpPr>
          <p:cNvPr id="9" name="Text 7"/>
          <p:cNvSpPr txBox="1"/>
          <p:nvPr/>
        </p:nvSpPr>
        <p:spPr>
          <a:xfrm>
            <a:off x="2743200" y="2834640"/>
            <a:ext cx="9601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cas</a:t>
            </a:r>
            <a:endParaRPr lang="en-US" sz="1600" dirty="0"/>
          </a:p>
        </p:txBody>
      </p:sp>
      <p:sp>
        <p:nvSpPr>
          <p:cNvPr id="10" name="Shape 8"/>
          <p:cNvSpPr/>
          <p:nvPr/>
        </p:nvSpPr>
        <p:spPr>
          <a:xfrm>
            <a:off x="3840480" y="2834640"/>
            <a:ext cx="960120" cy="502920"/>
          </a:xfrm>
          <a:prstGeom prst="roundRect">
            <a:avLst>
              <a:gd name="adj" fmla="val 14545"/>
            </a:avLst>
          </a:prstGeom>
          <a:solidFill>
            <a:srgbClr val="C74634"/>
          </a:solidFill>
          <a:ln w="12700">
            <a:solidFill>
              <a:srgbClr val="C74634"/>
            </a:solidFill>
            <a:prstDash val="solid"/>
          </a:ln>
        </p:spPr>
      </p:sp>
      <p:sp>
        <p:nvSpPr>
          <p:cNvPr id="11" name="Text 9"/>
          <p:cNvSpPr txBox="1"/>
          <p:nvPr/>
        </p:nvSpPr>
        <p:spPr>
          <a:xfrm>
            <a:off x="3840480" y="2834640"/>
            <a:ext cx="9601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vm</a:t>
            </a:r>
            <a:endParaRPr lang="en-US" sz="1600" dirty="0"/>
          </a:p>
        </p:txBody>
      </p:sp>
      <p:sp>
        <p:nvSpPr>
          <p:cNvPr id="12" name="Shape 10"/>
          <p:cNvSpPr/>
          <p:nvPr/>
        </p:nvSpPr>
        <p:spPr>
          <a:xfrm>
            <a:off x="4937760" y="2834640"/>
            <a:ext cx="960120" cy="502920"/>
          </a:xfrm>
          <a:prstGeom prst="roundRect">
            <a:avLst>
              <a:gd name="adj" fmla="val 14545"/>
            </a:avLst>
          </a:prstGeom>
          <a:solidFill>
            <a:srgbClr val="B7791F"/>
          </a:solidFill>
          <a:ln w="12700">
            <a:solidFill>
              <a:srgbClr val="B7791F"/>
            </a:solidFill>
            <a:prstDash val="solid"/>
          </a:ln>
        </p:spPr>
      </p:sp>
      <p:sp>
        <p:nvSpPr>
          <p:cNvPr id="13" name="Text 11"/>
          <p:cNvSpPr txBox="1"/>
          <p:nvPr/>
        </p:nvSpPr>
        <p:spPr>
          <a:xfrm>
            <a:off x="4937760" y="2834640"/>
            <a:ext cx="9601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cbs</a:t>
            </a:r>
            <a:endParaRPr lang="en-US" sz="1600" dirty="0"/>
          </a:p>
        </p:txBody>
      </p:sp>
      <p:sp>
        <p:nvSpPr>
          <p:cNvPr id="14" name="Shape 12"/>
          <p:cNvSpPr/>
          <p:nvPr/>
        </p:nvSpPr>
        <p:spPr>
          <a:xfrm>
            <a:off x="6035040" y="2834640"/>
            <a:ext cx="960120" cy="502920"/>
          </a:xfrm>
          <a:prstGeom prst="roundRect">
            <a:avLst>
              <a:gd name="adj" fmla="val 14545"/>
            </a:avLst>
          </a:prstGeom>
          <a:solidFill>
            <a:srgbClr val="3A7D44"/>
          </a:solidFill>
          <a:ln w="12700">
            <a:solidFill>
              <a:srgbClr val="3A7D44"/>
            </a:solidFill>
            <a:prstDash val="solid"/>
          </a:ln>
        </p:spPr>
      </p:sp>
      <p:sp>
        <p:nvSpPr>
          <p:cNvPr id="15" name="Text 13"/>
          <p:cNvSpPr txBox="1"/>
          <p:nvPr/>
        </p:nvSpPr>
        <p:spPr>
          <a:xfrm>
            <a:off x="6035040" y="2834640"/>
            <a:ext cx="9601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ol</a:t>
            </a:r>
            <a:endParaRPr lang="en-US" sz="1600" dirty="0"/>
          </a:p>
        </p:txBody>
      </p:sp>
      <p:sp>
        <p:nvSpPr>
          <p:cNvPr id="16" name="Shape 14"/>
          <p:cNvSpPr/>
          <p:nvPr/>
        </p:nvSpPr>
        <p:spPr>
          <a:xfrm>
            <a:off x="7132320" y="2834640"/>
            <a:ext cx="960120" cy="502920"/>
          </a:xfrm>
          <a:prstGeom prst="roundRect">
            <a:avLst>
              <a:gd name="adj" fmla="val 14545"/>
            </a:avLst>
          </a:prstGeom>
          <a:solidFill>
            <a:srgbClr val="5B6B7F"/>
          </a:solidFill>
          <a:ln w="12700">
            <a:solidFill>
              <a:srgbClr val="5B6B7F"/>
            </a:solidFill>
            <a:prstDash val="solid"/>
          </a:ln>
        </p:spPr>
      </p:sp>
      <p:sp>
        <p:nvSpPr>
          <p:cNvPr id="17" name="Text 15"/>
          <p:cNvSpPr txBox="1"/>
          <p:nvPr/>
        </p:nvSpPr>
        <p:spPr>
          <a:xfrm>
            <a:off x="7132320" y="2834640"/>
            <a:ext cx="9601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01</a:t>
            </a:r>
            <a:endParaRPr lang="en-US" sz="1600" dirty="0"/>
          </a:p>
        </p:txBody>
      </p:sp>
      <p:sp>
        <p:nvSpPr>
          <p:cNvPr id="18" name="Text 16"/>
          <p:cNvSpPr txBox="1"/>
          <p:nvPr/>
        </p:nvSpPr>
        <p:spPr>
          <a:xfrm>
            <a:off x="548640" y="3474720"/>
            <a:ext cx="8046720" cy="365760"/>
          </a:xfrm>
          <a:prstGeom prst="rect">
            <a:avLst/>
          </a:prstGeom>
          <a:noFill/>
          <a:ln/>
        </p:spPr>
        <p:txBody>
          <a:bodyPr wrap="square" lIns="0" tIns="0" rIns="0" bIns="0" rtlCol="0" anchor="ctr"/>
          <a:lstStyle/>
          <a:p>
            <a:pPr marL="0" indent="0">
              <a:buNone/>
            </a:pPr>
            <a:r>
              <a:rPr lang="en-US" sz="1600" dirty="0">
                <a:solidFill>
                  <a:srgbClr val="CADCFC"/>
                </a:solidFill>
                <a:latin typeface="Courier New" pitchFamily="34" charset="0"/>
                <a:ea typeface="Courier New" pitchFamily="34" charset="-122"/>
                <a:cs typeface="Courier New" pitchFamily="34" charset="-120"/>
              </a:rPr>
              <a:t>cmr-prd-cas-vm-cbs-ol-01</a:t>
            </a:r>
            <a:endParaRPr lang="en-US" sz="1600" dirty="0"/>
          </a:p>
        </p:txBody>
      </p:sp>
      <p:sp>
        <p:nvSpPr>
          <p:cNvPr id="19" name="Text 17"/>
          <p:cNvSpPr txBox="1"/>
          <p:nvPr/>
        </p:nvSpPr>
        <p:spPr>
          <a:xfrm>
            <a:off x="548640" y="4480560"/>
            <a:ext cx="8046720" cy="274320"/>
          </a:xfrm>
          <a:prstGeom prst="rect">
            <a:avLst/>
          </a:prstGeom>
          <a:noFill/>
          <a:ln/>
        </p:spPr>
        <p:txBody>
          <a:bodyPr wrap="square" lIns="0" tIns="0" rIns="0" bIns="0" rtlCol="0" anchor="ctr"/>
          <a:lstStyle/>
          <a:p>
            <a:pPr marL="0" indent="0">
              <a:buNone/>
            </a:pPr>
            <a:r>
              <a:rPr lang="en-US" sz="1100" dirty="0">
                <a:solidFill>
                  <a:srgbClr val="9AA5B8"/>
                </a:solidFill>
                <a:latin typeface="Calibri" pitchFamily="34" charset="0"/>
                <a:ea typeface="Calibri" pitchFamily="34" charset="-122"/>
                <a:cs typeface="Calibri" pitchFamily="34" charset="-120"/>
              </a:rPr>
              <a:t>Cloud CoE  ·  OCI Resource Naming Standard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4213D"/>
                </a:solidFill>
                <a:latin typeface="Calibri" pitchFamily="34" charset="0"/>
                <a:ea typeface="Calibri" pitchFamily="34" charset="-122"/>
                <a:cs typeface="Calibri" pitchFamily="34" charset="-120"/>
              </a:rPr>
              <a:t>Why one naming standard?</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300" dirty="0">
                <a:solidFill>
                  <a:srgbClr val="5B6B7F"/>
                </a:solidFill>
                <a:latin typeface="Calibri" pitchFamily="34" charset="0"/>
                <a:ea typeface="Calibri" pitchFamily="34" charset="-122"/>
                <a:cs typeface="Calibri" pitchFamily="34" charset="-120"/>
              </a:rPr>
              <a:t>A name must tell anyone what a resource is, without opening the Console</a:t>
            </a:r>
            <a:endParaRPr lang="en-US" sz="1300" dirty="0"/>
          </a:p>
        </p:txBody>
      </p:sp>
      <p:sp>
        <p:nvSpPr>
          <p:cNvPr id="4" name="Shape 2"/>
          <p:cNvSpPr/>
          <p:nvPr/>
        </p:nvSpPr>
        <p:spPr>
          <a:xfrm>
            <a:off x="457200" y="1371600"/>
            <a:ext cx="2606040" cy="2926080"/>
          </a:xfrm>
          <a:prstGeom prst="roundRect">
            <a:avLst>
              <a:gd name="adj" fmla="val 2105"/>
            </a:avLst>
          </a:prstGeom>
          <a:solidFill>
            <a:srgbClr val="F4F5F7"/>
          </a:solidFill>
          <a:ln w="12700">
            <a:solidFill>
              <a:srgbClr val="F4F5F7"/>
            </a:solidFill>
            <a:prstDash val="solid"/>
          </a:ln>
        </p:spPr>
      </p:sp>
      <p:sp>
        <p:nvSpPr>
          <p:cNvPr id="5" name="Shape 3"/>
          <p:cNvSpPr/>
          <p:nvPr/>
        </p:nvSpPr>
        <p:spPr>
          <a:xfrm>
            <a:off x="685800" y="1600200"/>
            <a:ext cx="502920" cy="502920"/>
          </a:xfrm>
          <a:prstGeom prst="ellipse">
            <a:avLst/>
          </a:prstGeom>
          <a:solidFill>
            <a:srgbClr val="C74634"/>
          </a:solidFill>
          <a:ln w="12700">
            <a:solidFill>
              <a:srgbClr val="C74634"/>
            </a:solidFill>
            <a:prstDash val="solid"/>
          </a:ln>
        </p:spPr>
      </p:sp>
      <p:sp>
        <p:nvSpPr>
          <p:cNvPr id="6" name="Text 4"/>
          <p:cNvSpPr txBox="1"/>
          <p:nvPr/>
        </p:nvSpPr>
        <p:spPr>
          <a:xfrm>
            <a:off x="685800" y="1600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685800" y="2286000"/>
            <a:ext cx="2194560" cy="411480"/>
          </a:xfrm>
          <a:prstGeom prst="rect">
            <a:avLst/>
          </a:prstGeom>
          <a:noFill/>
          <a:ln/>
        </p:spPr>
        <p:txBody>
          <a:bodyPr wrap="square" lIns="0" tIns="0" rIns="0" bIns="0" rtlCol="0" anchor="ctr"/>
          <a:lstStyle/>
          <a:p>
            <a:pPr marL="0" indent="0">
              <a:buNone/>
            </a:pPr>
            <a:r>
              <a:rPr lang="en-US" sz="1700" b="1" dirty="0">
                <a:solidFill>
                  <a:srgbClr val="14213D"/>
                </a:solidFill>
                <a:latin typeface="Calibri" pitchFamily="34" charset="0"/>
                <a:ea typeface="Calibri" pitchFamily="34" charset="-122"/>
                <a:cs typeface="Calibri" pitchFamily="34" charset="-120"/>
              </a:rPr>
              <a:t>Find it at 2 AM</a:t>
            </a:r>
            <a:endParaRPr lang="en-US" sz="1700" dirty="0"/>
          </a:p>
        </p:txBody>
      </p:sp>
      <p:sp>
        <p:nvSpPr>
          <p:cNvPr id="8" name="Text 6"/>
          <p:cNvSpPr txBox="1"/>
          <p:nvPr/>
        </p:nvSpPr>
        <p:spPr>
          <a:xfrm>
            <a:off x="685800" y="2743200"/>
            <a:ext cx="2194560" cy="137160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An alarm or log line shows the name. Environment, region and application must be readable instantly.</a:t>
            </a:r>
            <a:endParaRPr lang="en-US" sz="1300" dirty="0"/>
          </a:p>
        </p:txBody>
      </p:sp>
      <p:sp>
        <p:nvSpPr>
          <p:cNvPr id="9" name="Shape 7"/>
          <p:cNvSpPr/>
          <p:nvPr/>
        </p:nvSpPr>
        <p:spPr>
          <a:xfrm>
            <a:off x="3246120" y="1371600"/>
            <a:ext cx="2606040" cy="2926080"/>
          </a:xfrm>
          <a:prstGeom prst="roundRect">
            <a:avLst>
              <a:gd name="adj" fmla="val 2105"/>
            </a:avLst>
          </a:prstGeom>
          <a:solidFill>
            <a:srgbClr val="F4F5F7"/>
          </a:solidFill>
          <a:ln w="12700">
            <a:solidFill>
              <a:srgbClr val="F4F5F7"/>
            </a:solidFill>
            <a:prstDash val="solid"/>
          </a:ln>
        </p:spPr>
      </p:sp>
      <p:sp>
        <p:nvSpPr>
          <p:cNvPr id="10" name="Shape 8"/>
          <p:cNvSpPr/>
          <p:nvPr/>
        </p:nvSpPr>
        <p:spPr>
          <a:xfrm>
            <a:off x="3474720" y="1600200"/>
            <a:ext cx="502920" cy="502920"/>
          </a:xfrm>
          <a:prstGeom prst="ellipse">
            <a:avLst/>
          </a:prstGeom>
          <a:solidFill>
            <a:srgbClr val="0F7B8A"/>
          </a:solidFill>
          <a:ln w="12700">
            <a:solidFill>
              <a:srgbClr val="0F7B8A"/>
            </a:solidFill>
            <a:prstDash val="solid"/>
          </a:ln>
        </p:spPr>
      </p:sp>
      <p:sp>
        <p:nvSpPr>
          <p:cNvPr id="11" name="Text 9"/>
          <p:cNvSpPr txBox="1"/>
          <p:nvPr/>
        </p:nvSpPr>
        <p:spPr>
          <a:xfrm>
            <a:off x="3474720" y="1600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3474720" y="2286000"/>
            <a:ext cx="2194560" cy="411480"/>
          </a:xfrm>
          <a:prstGeom prst="rect">
            <a:avLst/>
          </a:prstGeom>
          <a:noFill/>
          <a:ln/>
        </p:spPr>
        <p:txBody>
          <a:bodyPr wrap="square" lIns="0" tIns="0" rIns="0" bIns="0" rtlCol="0" anchor="ctr"/>
          <a:lstStyle/>
          <a:p>
            <a:pPr marL="0" indent="0">
              <a:buNone/>
            </a:pPr>
            <a:r>
              <a:rPr lang="en-US" sz="1700" b="1" dirty="0">
                <a:solidFill>
                  <a:srgbClr val="14213D"/>
                </a:solidFill>
                <a:latin typeface="Calibri" pitchFamily="34" charset="0"/>
                <a:ea typeface="Calibri" pitchFamily="34" charset="-122"/>
                <a:cs typeface="Calibri" pitchFamily="34" charset="-120"/>
              </a:rPr>
              <a:t>Safer operations</a:t>
            </a:r>
            <a:endParaRPr lang="en-US" sz="1700" dirty="0"/>
          </a:p>
        </p:txBody>
      </p:sp>
      <p:sp>
        <p:nvSpPr>
          <p:cNvPr id="13" name="Text 11"/>
          <p:cNvSpPr txBox="1"/>
          <p:nvPr/>
        </p:nvSpPr>
        <p:spPr>
          <a:xfrm>
            <a:off x="3474720" y="2743200"/>
            <a:ext cx="2194560" cy="137160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No more "prod-server-new2". A wrong environment in a name can lead someone to act on production.</a:t>
            </a:r>
            <a:endParaRPr lang="en-US" sz="1300" dirty="0"/>
          </a:p>
        </p:txBody>
      </p:sp>
      <p:sp>
        <p:nvSpPr>
          <p:cNvPr id="14" name="Shape 12"/>
          <p:cNvSpPr/>
          <p:nvPr/>
        </p:nvSpPr>
        <p:spPr>
          <a:xfrm>
            <a:off x="6035040" y="1371600"/>
            <a:ext cx="2606040" cy="2926080"/>
          </a:xfrm>
          <a:prstGeom prst="roundRect">
            <a:avLst>
              <a:gd name="adj" fmla="val 2105"/>
            </a:avLst>
          </a:prstGeom>
          <a:solidFill>
            <a:srgbClr val="F4F5F7"/>
          </a:solidFill>
          <a:ln w="12700">
            <a:solidFill>
              <a:srgbClr val="F4F5F7"/>
            </a:solidFill>
            <a:prstDash val="solid"/>
          </a:ln>
        </p:spPr>
      </p:sp>
      <p:sp>
        <p:nvSpPr>
          <p:cNvPr id="15" name="Shape 13"/>
          <p:cNvSpPr/>
          <p:nvPr/>
        </p:nvSpPr>
        <p:spPr>
          <a:xfrm>
            <a:off x="6263640" y="1600200"/>
            <a:ext cx="502920" cy="502920"/>
          </a:xfrm>
          <a:prstGeom prst="ellipse">
            <a:avLst/>
          </a:prstGeom>
          <a:solidFill>
            <a:srgbClr val="6A4C93"/>
          </a:solidFill>
          <a:ln w="12700">
            <a:solidFill>
              <a:srgbClr val="6A4C93"/>
            </a:solidFill>
            <a:prstDash val="solid"/>
          </a:ln>
        </p:spPr>
      </p:sp>
      <p:sp>
        <p:nvSpPr>
          <p:cNvPr id="16" name="Text 14"/>
          <p:cNvSpPr txBox="1"/>
          <p:nvPr/>
        </p:nvSpPr>
        <p:spPr>
          <a:xfrm>
            <a:off x="6263640" y="1600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6263640" y="2286000"/>
            <a:ext cx="2194560" cy="411480"/>
          </a:xfrm>
          <a:prstGeom prst="rect">
            <a:avLst/>
          </a:prstGeom>
          <a:noFill/>
          <a:ln/>
        </p:spPr>
        <p:txBody>
          <a:bodyPr wrap="square" lIns="0" tIns="0" rIns="0" bIns="0" rtlCol="0" anchor="ctr"/>
          <a:lstStyle/>
          <a:p>
            <a:pPr marL="0" indent="0">
              <a:buNone/>
            </a:pPr>
            <a:r>
              <a:rPr lang="en-US" sz="1700" b="1" dirty="0">
                <a:solidFill>
                  <a:srgbClr val="14213D"/>
                </a:solidFill>
                <a:latin typeface="Calibri" pitchFamily="34" charset="0"/>
                <a:ea typeface="Calibri" pitchFamily="34" charset="-122"/>
                <a:cs typeface="Calibri" pitchFamily="34" charset="-120"/>
              </a:rPr>
              <a:t>Audit &amp; automation</a:t>
            </a:r>
            <a:endParaRPr lang="en-US" sz="1700" dirty="0"/>
          </a:p>
        </p:txBody>
      </p:sp>
      <p:sp>
        <p:nvSpPr>
          <p:cNvPr id="18" name="Text 16"/>
          <p:cNvSpPr txBox="1"/>
          <p:nvPr/>
        </p:nvSpPr>
        <p:spPr>
          <a:xfrm>
            <a:off x="6263640" y="2743200"/>
            <a:ext cx="2194560" cy="137160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Predictable names can be generated, validated and reported on automatically.</a:t>
            </a:r>
            <a:endParaRPr lang="en-US" sz="1300" dirty="0"/>
          </a:p>
        </p:txBody>
      </p:sp>
      <p:sp>
        <p:nvSpPr>
          <p:cNvPr id="19" name="Text 17"/>
          <p:cNvSpPr txBox="1"/>
          <p:nvPr/>
        </p:nvSpPr>
        <p:spPr>
          <a:xfrm>
            <a:off x="457200" y="4800600"/>
            <a:ext cx="4572000" cy="228600"/>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OCI Naming Standard  ·  cmr</a:t>
            </a:r>
            <a:endParaRPr lang="en-US" sz="900" dirty="0"/>
          </a:p>
        </p:txBody>
      </p:sp>
      <p:sp>
        <p:nvSpPr>
          <p:cNvPr id="20" name="Text 18"/>
          <p:cNvSpPr txBox="1"/>
          <p:nvPr/>
        </p:nvSpPr>
        <p:spPr>
          <a:xfrm>
            <a:off x="8229600" y="4800600"/>
            <a:ext cx="457200" cy="228600"/>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4213D"/>
                </a:solidFill>
                <a:latin typeface="Calibri" pitchFamily="34" charset="0"/>
                <a:ea typeface="Calibri" pitchFamily="34" charset="-122"/>
                <a:cs typeface="Calibri" pitchFamily="34" charset="-120"/>
              </a:rPr>
              <a:t>The pattern: seven fields, always in this order</a:t>
            </a:r>
            <a:endParaRPr lang="en-US" sz="2800" dirty="0"/>
          </a:p>
        </p:txBody>
      </p:sp>
      <p:sp>
        <p:nvSpPr>
          <p:cNvPr id="3" name="Shape 1"/>
          <p:cNvSpPr/>
          <p:nvPr/>
        </p:nvSpPr>
        <p:spPr>
          <a:xfrm>
            <a:off x="457200" y="1325880"/>
            <a:ext cx="1024128" cy="457200"/>
          </a:xfrm>
          <a:prstGeom prst="roundRect">
            <a:avLst>
              <a:gd name="adj" fmla="val 16000"/>
            </a:avLst>
          </a:prstGeom>
          <a:solidFill>
            <a:srgbClr val="14213D"/>
          </a:solidFill>
          <a:ln w="12700">
            <a:solidFill>
              <a:srgbClr val="14213D"/>
            </a:solidFill>
            <a:prstDash val="solid"/>
          </a:ln>
        </p:spPr>
      </p:sp>
      <p:sp>
        <p:nvSpPr>
          <p:cNvPr id="4" name="Text 2"/>
          <p:cNvSpPr txBox="1"/>
          <p:nvPr/>
        </p:nvSpPr>
        <p:spPr>
          <a:xfrm>
            <a:off x="457200" y="1325880"/>
            <a:ext cx="1024128"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&lt;org&gt;</a:t>
            </a:r>
            <a:endParaRPr lang="en-US" sz="1300" dirty="0"/>
          </a:p>
        </p:txBody>
      </p:sp>
      <p:sp>
        <p:nvSpPr>
          <p:cNvPr id="5" name="Text 3"/>
          <p:cNvSpPr txBox="1"/>
          <p:nvPr/>
        </p:nvSpPr>
        <p:spPr>
          <a:xfrm>
            <a:off x="457200" y="1874520"/>
            <a:ext cx="1024128" cy="365760"/>
          </a:xfrm>
          <a:prstGeom prst="rect">
            <a:avLst/>
          </a:prstGeom>
          <a:noFill/>
          <a:ln/>
        </p:spPr>
        <p:txBody>
          <a:bodyPr wrap="square" lIns="0" tIns="0" rIns="0" bIns="0" rtlCol="0" anchor="ctr"/>
          <a:lstStyle/>
          <a:p>
            <a:pPr marL="0" indent="0" algn="ctr">
              <a:buNone/>
            </a:pPr>
            <a:r>
              <a:rPr lang="en-US" sz="2000" b="1" dirty="0">
                <a:solidFill>
                  <a:srgbClr val="14213D"/>
                </a:solidFill>
                <a:latin typeface="Courier New" pitchFamily="34" charset="0"/>
                <a:ea typeface="Courier New" pitchFamily="34" charset="-122"/>
                <a:cs typeface="Courier New" pitchFamily="34" charset="-120"/>
              </a:rPr>
              <a:t>cmr</a:t>
            </a:r>
            <a:endParaRPr lang="en-US" sz="2000" dirty="0"/>
          </a:p>
        </p:txBody>
      </p:sp>
      <p:sp>
        <p:nvSpPr>
          <p:cNvPr id="6" name="Text 4"/>
          <p:cNvSpPr txBox="1"/>
          <p:nvPr/>
        </p:nvSpPr>
        <p:spPr>
          <a:xfrm>
            <a:off x="457200" y="2286000"/>
            <a:ext cx="1024128" cy="320040"/>
          </a:xfrm>
          <a:prstGeom prst="rect">
            <a:avLst/>
          </a:prstGeom>
          <a:noFill/>
          <a:ln/>
        </p:spPr>
        <p:txBody>
          <a:bodyPr wrap="square" lIns="0" tIns="0" rIns="0" bIns="0" rtlCol="0" anchor="ctr"/>
          <a:lstStyle/>
          <a:p>
            <a:pPr marL="0" indent="0" algn="ctr">
              <a:buNone/>
            </a:pPr>
            <a:r>
              <a:rPr lang="en-US" sz="1100" dirty="0">
                <a:solidFill>
                  <a:srgbClr val="5B6B7F"/>
                </a:solidFill>
                <a:latin typeface="Calibri" pitchFamily="34" charset="0"/>
                <a:ea typeface="Calibri" pitchFamily="34" charset="-122"/>
                <a:cs typeface="Calibri" pitchFamily="34" charset="-120"/>
              </a:rPr>
              <a:t>Organisation</a:t>
            </a:r>
            <a:endParaRPr lang="en-US" sz="1100" dirty="0"/>
          </a:p>
        </p:txBody>
      </p:sp>
      <p:sp>
        <p:nvSpPr>
          <p:cNvPr id="7" name="Shape 5"/>
          <p:cNvSpPr/>
          <p:nvPr/>
        </p:nvSpPr>
        <p:spPr>
          <a:xfrm>
            <a:off x="1627632" y="1325880"/>
            <a:ext cx="1024128" cy="457200"/>
          </a:xfrm>
          <a:prstGeom prst="roundRect">
            <a:avLst>
              <a:gd name="adj" fmla="val 16000"/>
            </a:avLst>
          </a:prstGeom>
          <a:solidFill>
            <a:srgbClr val="0F7B8A"/>
          </a:solidFill>
          <a:ln w="12700">
            <a:solidFill>
              <a:srgbClr val="0F7B8A"/>
            </a:solidFill>
            <a:prstDash val="solid"/>
          </a:ln>
        </p:spPr>
      </p:sp>
      <p:sp>
        <p:nvSpPr>
          <p:cNvPr id="8" name="Text 6"/>
          <p:cNvSpPr txBox="1"/>
          <p:nvPr/>
        </p:nvSpPr>
        <p:spPr>
          <a:xfrm>
            <a:off x="1627632" y="1325880"/>
            <a:ext cx="1024128"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&lt;env&gt;</a:t>
            </a:r>
            <a:endParaRPr lang="en-US" sz="1300" dirty="0"/>
          </a:p>
        </p:txBody>
      </p:sp>
      <p:sp>
        <p:nvSpPr>
          <p:cNvPr id="9" name="Text 7"/>
          <p:cNvSpPr txBox="1"/>
          <p:nvPr/>
        </p:nvSpPr>
        <p:spPr>
          <a:xfrm>
            <a:off x="1627632" y="1874520"/>
            <a:ext cx="1024128" cy="365760"/>
          </a:xfrm>
          <a:prstGeom prst="rect">
            <a:avLst/>
          </a:prstGeom>
          <a:noFill/>
          <a:ln/>
        </p:spPr>
        <p:txBody>
          <a:bodyPr wrap="square" lIns="0" tIns="0" rIns="0" bIns="0" rtlCol="0" anchor="ctr"/>
          <a:lstStyle/>
          <a:p>
            <a:pPr marL="0" indent="0" algn="ctr">
              <a:buNone/>
            </a:pPr>
            <a:r>
              <a:rPr lang="en-US" sz="2000" b="1" dirty="0">
                <a:solidFill>
                  <a:srgbClr val="0F7B8A"/>
                </a:solidFill>
                <a:latin typeface="Courier New" pitchFamily="34" charset="0"/>
                <a:ea typeface="Courier New" pitchFamily="34" charset="-122"/>
                <a:cs typeface="Courier New" pitchFamily="34" charset="-120"/>
              </a:rPr>
              <a:t>prd</a:t>
            </a:r>
            <a:endParaRPr lang="en-US" sz="2000" dirty="0"/>
          </a:p>
        </p:txBody>
      </p:sp>
      <p:sp>
        <p:nvSpPr>
          <p:cNvPr id="10" name="Text 8"/>
          <p:cNvSpPr txBox="1"/>
          <p:nvPr/>
        </p:nvSpPr>
        <p:spPr>
          <a:xfrm>
            <a:off x="1627632" y="2286000"/>
            <a:ext cx="1024128" cy="320040"/>
          </a:xfrm>
          <a:prstGeom prst="rect">
            <a:avLst/>
          </a:prstGeom>
          <a:noFill/>
          <a:ln/>
        </p:spPr>
        <p:txBody>
          <a:bodyPr wrap="square" lIns="0" tIns="0" rIns="0" bIns="0" rtlCol="0" anchor="ctr"/>
          <a:lstStyle/>
          <a:p>
            <a:pPr marL="0" indent="0" algn="ctr">
              <a:buNone/>
            </a:pPr>
            <a:r>
              <a:rPr lang="en-US" sz="1100" dirty="0">
                <a:solidFill>
                  <a:srgbClr val="5B6B7F"/>
                </a:solidFill>
                <a:latin typeface="Calibri" pitchFamily="34" charset="0"/>
                <a:ea typeface="Calibri" pitchFamily="34" charset="-122"/>
                <a:cs typeface="Calibri" pitchFamily="34" charset="-120"/>
              </a:rPr>
              <a:t>Environment</a:t>
            </a:r>
            <a:endParaRPr lang="en-US" sz="1100" dirty="0"/>
          </a:p>
        </p:txBody>
      </p:sp>
      <p:sp>
        <p:nvSpPr>
          <p:cNvPr id="11" name="Shape 9"/>
          <p:cNvSpPr/>
          <p:nvPr/>
        </p:nvSpPr>
        <p:spPr>
          <a:xfrm>
            <a:off x="2798064" y="1325880"/>
            <a:ext cx="1024128" cy="457200"/>
          </a:xfrm>
          <a:prstGeom prst="roundRect">
            <a:avLst>
              <a:gd name="adj" fmla="val 16000"/>
            </a:avLst>
          </a:prstGeom>
          <a:solidFill>
            <a:srgbClr val="6A4C93"/>
          </a:solidFill>
          <a:ln w="12700">
            <a:solidFill>
              <a:srgbClr val="6A4C93"/>
            </a:solidFill>
            <a:prstDash val="solid"/>
          </a:ln>
        </p:spPr>
      </p:sp>
      <p:sp>
        <p:nvSpPr>
          <p:cNvPr id="12" name="Text 10"/>
          <p:cNvSpPr txBox="1"/>
          <p:nvPr/>
        </p:nvSpPr>
        <p:spPr>
          <a:xfrm>
            <a:off x="2798064" y="1325880"/>
            <a:ext cx="1024128"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&lt;rgn&gt;</a:t>
            </a:r>
            <a:endParaRPr lang="en-US" sz="1300" dirty="0"/>
          </a:p>
        </p:txBody>
      </p:sp>
      <p:sp>
        <p:nvSpPr>
          <p:cNvPr id="13" name="Text 11"/>
          <p:cNvSpPr txBox="1"/>
          <p:nvPr/>
        </p:nvSpPr>
        <p:spPr>
          <a:xfrm>
            <a:off x="2798064" y="1874520"/>
            <a:ext cx="1024128" cy="365760"/>
          </a:xfrm>
          <a:prstGeom prst="rect">
            <a:avLst/>
          </a:prstGeom>
          <a:noFill/>
          <a:ln/>
        </p:spPr>
        <p:txBody>
          <a:bodyPr wrap="square" lIns="0" tIns="0" rIns="0" bIns="0" rtlCol="0" anchor="ctr"/>
          <a:lstStyle/>
          <a:p>
            <a:pPr marL="0" indent="0" algn="ctr">
              <a:buNone/>
            </a:pPr>
            <a:r>
              <a:rPr lang="en-US" sz="2000" b="1" dirty="0">
                <a:solidFill>
                  <a:srgbClr val="6A4C93"/>
                </a:solidFill>
                <a:latin typeface="Courier New" pitchFamily="34" charset="0"/>
                <a:ea typeface="Courier New" pitchFamily="34" charset="-122"/>
                <a:cs typeface="Courier New" pitchFamily="34" charset="-120"/>
              </a:rPr>
              <a:t>cas</a:t>
            </a:r>
            <a:endParaRPr lang="en-US" sz="2000" dirty="0"/>
          </a:p>
        </p:txBody>
      </p:sp>
      <p:sp>
        <p:nvSpPr>
          <p:cNvPr id="14" name="Text 12"/>
          <p:cNvSpPr txBox="1"/>
          <p:nvPr/>
        </p:nvSpPr>
        <p:spPr>
          <a:xfrm>
            <a:off x="2798064" y="2286000"/>
            <a:ext cx="1024128" cy="320040"/>
          </a:xfrm>
          <a:prstGeom prst="rect">
            <a:avLst/>
          </a:prstGeom>
          <a:noFill/>
          <a:ln/>
        </p:spPr>
        <p:txBody>
          <a:bodyPr wrap="square" lIns="0" tIns="0" rIns="0" bIns="0" rtlCol="0" anchor="ctr"/>
          <a:lstStyle/>
          <a:p>
            <a:pPr marL="0" indent="0" algn="ctr">
              <a:buNone/>
            </a:pPr>
            <a:r>
              <a:rPr lang="en-US" sz="1100" dirty="0">
                <a:solidFill>
                  <a:srgbClr val="5B6B7F"/>
                </a:solidFill>
                <a:latin typeface="Calibri" pitchFamily="34" charset="0"/>
                <a:ea typeface="Calibri" pitchFamily="34" charset="-122"/>
                <a:cs typeface="Calibri" pitchFamily="34" charset="-120"/>
              </a:rPr>
              <a:t>Region</a:t>
            </a:r>
            <a:endParaRPr lang="en-US" sz="1100" dirty="0"/>
          </a:p>
        </p:txBody>
      </p:sp>
      <p:sp>
        <p:nvSpPr>
          <p:cNvPr id="15" name="Shape 13"/>
          <p:cNvSpPr/>
          <p:nvPr/>
        </p:nvSpPr>
        <p:spPr>
          <a:xfrm>
            <a:off x="3968496" y="1325880"/>
            <a:ext cx="1024128" cy="457200"/>
          </a:xfrm>
          <a:prstGeom prst="roundRect">
            <a:avLst>
              <a:gd name="adj" fmla="val 16000"/>
            </a:avLst>
          </a:prstGeom>
          <a:solidFill>
            <a:srgbClr val="C74634"/>
          </a:solidFill>
          <a:ln w="12700">
            <a:solidFill>
              <a:srgbClr val="C74634"/>
            </a:solidFill>
            <a:prstDash val="solid"/>
          </a:ln>
        </p:spPr>
      </p:sp>
      <p:sp>
        <p:nvSpPr>
          <p:cNvPr id="16" name="Text 14"/>
          <p:cNvSpPr txBox="1"/>
          <p:nvPr/>
        </p:nvSpPr>
        <p:spPr>
          <a:xfrm>
            <a:off x="3968496" y="1325880"/>
            <a:ext cx="1024128"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&lt;type&gt;</a:t>
            </a:r>
            <a:endParaRPr lang="en-US" sz="1300" dirty="0"/>
          </a:p>
        </p:txBody>
      </p:sp>
      <p:sp>
        <p:nvSpPr>
          <p:cNvPr id="17" name="Text 15"/>
          <p:cNvSpPr txBox="1"/>
          <p:nvPr/>
        </p:nvSpPr>
        <p:spPr>
          <a:xfrm>
            <a:off x="3968496" y="1874520"/>
            <a:ext cx="1024128" cy="365760"/>
          </a:xfrm>
          <a:prstGeom prst="rect">
            <a:avLst/>
          </a:prstGeom>
          <a:noFill/>
          <a:ln/>
        </p:spPr>
        <p:txBody>
          <a:bodyPr wrap="square" lIns="0" tIns="0" rIns="0" bIns="0" rtlCol="0" anchor="ctr"/>
          <a:lstStyle/>
          <a:p>
            <a:pPr marL="0" indent="0" algn="ctr">
              <a:buNone/>
            </a:pPr>
            <a:r>
              <a:rPr lang="en-US" sz="2000" b="1" dirty="0">
                <a:solidFill>
                  <a:srgbClr val="C74634"/>
                </a:solidFill>
                <a:latin typeface="Courier New" pitchFamily="34" charset="0"/>
                <a:ea typeface="Courier New" pitchFamily="34" charset="-122"/>
                <a:cs typeface="Courier New" pitchFamily="34" charset="-120"/>
              </a:rPr>
              <a:t>vm</a:t>
            </a:r>
            <a:endParaRPr lang="en-US" sz="2000" dirty="0"/>
          </a:p>
        </p:txBody>
      </p:sp>
      <p:sp>
        <p:nvSpPr>
          <p:cNvPr id="18" name="Text 16"/>
          <p:cNvSpPr txBox="1"/>
          <p:nvPr/>
        </p:nvSpPr>
        <p:spPr>
          <a:xfrm>
            <a:off x="3968496" y="2286000"/>
            <a:ext cx="1024128" cy="320040"/>
          </a:xfrm>
          <a:prstGeom prst="rect">
            <a:avLst/>
          </a:prstGeom>
          <a:noFill/>
          <a:ln/>
        </p:spPr>
        <p:txBody>
          <a:bodyPr wrap="square" lIns="0" tIns="0" rIns="0" bIns="0" rtlCol="0" anchor="ctr"/>
          <a:lstStyle/>
          <a:p>
            <a:pPr marL="0" indent="0" algn="ctr">
              <a:buNone/>
            </a:pPr>
            <a:r>
              <a:rPr lang="en-US" sz="1100" dirty="0">
                <a:solidFill>
                  <a:srgbClr val="5B6B7F"/>
                </a:solidFill>
                <a:latin typeface="Calibri" pitchFamily="34" charset="0"/>
                <a:ea typeface="Calibri" pitchFamily="34" charset="-122"/>
                <a:cs typeface="Calibri" pitchFamily="34" charset="-120"/>
              </a:rPr>
              <a:t>Resource type</a:t>
            </a:r>
            <a:endParaRPr lang="en-US" sz="1100" dirty="0"/>
          </a:p>
        </p:txBody>
      </p:sp>
      <p:sp>
        <p:nvSpPr>
          <p:cNvPr id="19" name="Shape 17"/>
          <p:cNvSpPr/>
          <p:nvPr/>
        </p:nvSpPr>
        <p:spPr>
          <a:xfrm>
            <a:off x="5138928" y="1325880"/>
            <a:ext cx="1024128" cy="457200"/>
          </a:xfrm>
          <a:prstGeom prst="roundRect">
            <a:avLst>
              <a:gd name="adj" fmla="val 16000"/>
            </a:avLst>
          </a:prstGeom>
          <a:solidFill>
            <a:srgbClr val="B7791F"/>
          </a:solidFill>
          <a:ln w="12700">
            <a:solidFill>
              <a:srgbClr val="B7791F"/>
            </a:solidFill>
            <a:prstDash val="solid"/>
          </a:ln>
        </p:spPr>
      </p:sp>
      <p:sp>
        <p:nvSpPr>
          <p:cNvPr id="20" name="Text 18"/>
          <p:cNvSpPr txBox="1"/>
          <p:nvPr/>
        </p:nvSpPr>
        <p:spPr>
          <a:xfrm>
            <a:off x="5138928" y="1325880"/>
            <a:ext cx="1024128"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&lt;app&gt;</a:t>
            </a:r>
            <a:endParaRPr lang="en-US" sz="1300" dirty="0"/>
          </a:p>
        </p:txBody>
      </p:sp>
      <p:sp>
        <p:nvSpPr>
          <p:cNvPr id="21" name="Text 19"/>
          <p:cNvSpPr txBox="1"/>
          <p:nvPr/>
        </p:nvSpPr>
        <p:spPr>
          <a:xfrm>
            <a:off x="5138928" y="1874520"/>
            <a:ext cx="1024128" cy="365760"/>
          </a:xfrm>
          <a:prstGeom prst="rect">
            <a:avLst/>
          </a:prstGeom>
          <a:noFill/>
          <a:ln/>
        </p:spPr>
        <p:txBody>
          <a:bodyPr wrap="square" lIns="0" tIns="0" rIns="0" bIns="0" rtlCol="0" anchor="ctr"/>
          <a:lstStyle/>
          <a:p>
            <a:pPr marL="0" indent="0" algn="ctr">
              <a:buNone/>
            </a:pPr>
            <a:r>
              <a:rPr lang="en-US" sz="2000" b="1" dirty="0">
                <a:solidFill>
                  <a:srgbClr val="B7791F"/>
                </a:solidFill>
                <a:latin typeface="Courier New" pitchFamily="34" charset="0"/>
                <a:ea typeface="Courier New" pitchFamily="34" charset="-122"/>
                <a:cs typeface="Courier New" pitchFamily="34" charset="-120"/>
              </a:rPr>
              <a:t>cbs</a:t>
            </a:r>
            <a:endParaRPr lang="en-US" sz="2000" dirty="0"/>
          </a:p>
        </p:txBody>
      </p:sp>
      <p:sp>
        <p:nvSpPr>
          <p:cNvPr id="22" name="Text 20"/>
          <p:cNvSpPr txBox="1"/>
          <p:nvPr/>
        </p:nvSpPr>
        <p:spPr>
          <a:xfrm>
            <a:off x="5138928" y="2286000"/>
            <a:ext cx="1024128" cy="320040"/>
          </a:xfrm>
          <a:prstGeom prst="rect">
            <a:avLst/>
          </a:prstGeom>
          <a:noFill/>
          <a:ln/>
        </p:spPr>
        <p:txBody>
          <a:bodyPr wrap="square" lIns="0" tIns="0" rIns="0" bIns="0" rtlCol="0" anchor="ctr"/>
          <a:lstStyle/>
          <a:p>
            <a:pPr marL="0" indent="0" algn="ctr">
              <a:buNone/>
            </a:pPr>
            <a:r>
              <a:rPr lang="en-US" sz="1100" dirty="0">
                <a:solidFill>
                  <a:srgbClr val="5B6B7F"/>
                </a:solidFill>
                <a:latin typeface="Calibri" pitchFamily="34" charset="0"/>
                <a:ea typeface="Calibri" pitchFamily="34" charset="-122"/>
                <a:cs typeface="Calibri" pitchFamily="34" charset="-120"/>
              </a:rPr>
              <a:t>Application</a:t>
            </a:r>
            <a:endParaRPr lang="en-US" sz="1100" dirty="0"/>
          </a:p>
        </p:txBody>
      </p:sp>
      <p:sp>
        <p:nvSpPr>
          <p:cNvPr id="23" name="Shape 21"/>
          <p:cNvSpPr/>
          <p:nvPr/>
        </p:nvSpPr>
        <p:spPr>
          <a:xfrm>
            <a:off x="6309360" y="1325880"/>
            <a:ext cx="1024128" cy="457200"/>
          </a:xfrm>
          <a:prstGeom prst="roundRect">
            <a:avLst>
              <a:gd name="adj" fmla="val 16000"/>
            </a:avLst>
          </a:prstGeom>
          <a:solidFill>
            <a:srgbClr val="3A7D44"/>
          </a:solidFill>
          <a:ln w="12700">
            <a:solidFill>
              <a:srgbClr val="3A7D44"/>
            </a:solidFill>
            <a:prstDash val="solid"/>
          </a:ln>
        </p:spPr>
      </p:sp>
      <p:sp>
        <p:nvSpPr>
          <p:cNvPr id="24" name="Text 22"/>
          <p:cNvSpPr txBox="1"/>
          <p:nvPr/>
        </p:nvSpPr>
        <p:spPr>
          <a:xfrm>
            <a:off x="6309360" y="1325880"/>
            <a:ext cx="1024128"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&lt;qual&gt;</a:t>
            </a:r>
            <a:endParaRPr lang="en-US" sz="1300" dirty="0"/>
          </a:p>
        </p:txBody>
      </p:sp>
      <p:sp>
        <p:nvSpPr>
          <p:cNvPr id="25" name="Text 23"/>
          <p:cNvSpPr txBox="1"/>
          <p:nvPr/>
        </p:nvSpPr>
        <p:spPr>
          <a:xfrm>
            <a:off x="6309360" y="1874520"/>
            <a:ext cx="1024128" cy="365760"/>
          </a:xfrm>
          <a:prstGeom prst="rect">
            <a:avLst/>
          </a:prstGeom>
          <a:noFill/>
          <a:ln/>
        </p:spPr>
        <p:txBody>
          <a:bodyPr wrap="square" lIns="0" tIns="0" rIns="0" bIns="0" rtlCol="0" anchor="ctr"/>
          <a:lstStyle/>
          <a:p>
            <a:pPr marL="0" indent="0" algn="ctr">
              <a:buNone/>
            </a:pPr>
            <a:r>
              <a:rPr lang="en-US" sz="2000" b="1" dirty="0">
                <a:solidFill>
                  <a:srgbClr val="3A7D44"/>
                </a:solidFill>
                <a:latin typeface="Courier New" pitchFamily="34" charset="0"/>
                <a:ea typeface="Courier New" pitchFamily="34" charset="-122"/>
                <a:cs typeface="Courier New" pitchFamily="34" charset="-120"/>
              </a:rPr>
              <a:t>ol</a:t>
            </a:r>
            <a:endParaRPr lang="en-US" sz="2000" dirty="0"/>
          </a:p>
        </p:txBody>
      </p:sp>
      <p:sp>
        <p:nvSpPr>
          <p:cNvPr id="26" name="Text 24"/>
          <p:cNvSpPr txBox="1"/>
          <p:nvPr/>
        </p:nvSpPr>
        <p:spPr>
          <a:xfrm>
            <a:off x="6309360" y="2286000"/>
            <a:ext cx="1024128" cy="320040"/>
          </a:xfrm>
          <a:prstGeom prst="rect">
            <a:avLst/>
          </a:prstGeom>
          <a:noFill/>
          <a:ln/>
        </p:spPr>
        <p:txBody>
          <a:bodyPr wrap="square" lIns="0" tIns="0" rIns="0" bIns="0" rtlCol="0" anchor="ctr"/>
          <a:lstStyle/>
          <a:p>
            <a:pPr marL="0" indent="0" algn="ctr">
              <a:buNone/>
            </a:pPr>
            <a:r>
              <a:rPr lang="en-US" sz="1100" dirty="0">
                <a:solidFill>
                  <a:srgbClr val="5B6B7F"/>
                </a:solidFill>
                <a:latin typeface="Calibri" pitchFamily="34" charset="0"/>
                <a:ea typeface="Calibri" pitchFamily="34" charset="-122"/>
                <a:cs typeface="Calibri" pitchFamily="34" charset="-120"/>
              </a:rPr>
              <a:t>Qualifier*</a:t>
            </a:r>
            <a:endParaRPr lang="en-US" sz="1100" dirty="0"/>
          </a:p>
        </p:txBody>
      </p:sp>
      <p:sp>
        <p:nvSpPr>
          <p:cNvPr id="27" name="Shape 25"/>
          <p:cNvSpPr/>
          <p:nvPr/>
        </p:nvSpPr>
        <p:spPr>
          <a:xfrm>
            <a:off x="7479792" y="1325880"/>
            <a:ext cx="1024128" cy="457200"/>
          </a:xfrm>
          <a:prstGeom prst="roundRect">
            <a:avLst>
              <a:gd name="adj" fmla="val 16000"/>
            </a:avLst>
          </a:prstGeom>
          <a:solidFill>
            <a:srgbClr val="5B6B7F"/>
          </a:solidFill>
          <a:ln w="12700">
            <a:solidFill>
              <a:srgbClr val="5B6B7F"/>
            </a:solidFill>
            <a:prstDash val="solid"/>
          </a:ln>
        </p:spPr>
      </p:sp>
      <p:sp>
        <p:nvSpPr>
          <p:cNvPr id="28" name="Text 26"/>
          <p:cNvSpPr txBox="1"/>
          <p:nvPr/>
        </p:nvSpPr>
        <p:spPr>
          <a:xfrm>
            <a:off x="7479792" y="1325880"/>
            <a:ext cx="1024128"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&lt;nn&gt;</a:t>
            </a:r>
            <a:endParaRPr lang="en-US" sz="1300" dirty="0"/>
          </a:p>
        </p:txBody>
      </p:sp>
      <p:sp>
        <p:nvSpPr>
          <p:cNvPr id="29" name="Text 27"/>
          <p:cNvSpPr txBox="1"/>
          <p:nvPr/>
        </p:nvSpPr>
        <p:spPr>
          <a:xfrm>
            <a:off x="7479792" y="1874520"/>
            <a:ext cx="1024128" cy="365760"/>
          </a:xfrm>
          <a:prstGeom prst="rect">
            <a:avLst/>
          </a:prstGeom>
          <a:noFill/>
          <a:ln/>
        </p:spPr>
        <p:txBody>
          <a:bodyPr wrap="square" lIns="0" tIns="0" rIns="0" bIns="0" rtlCol="0" anchor="ctr"/>
          <a:lstStyle/>
          <a:p>
            <a:pPr marL="0" indent="0" algn="ctr">
              <a:buNone/>
            </a:pPr>
            <a:r>
              <a:rPr lang="en-US" sz="2000" b="1" dirty="0">
                <a:solidFill>
                  <a:srgbClr val="5B6B7F"/>
                </a:solidFill>
                <a:latin typeface="Courier New" pitchFamily="34" charset="0"/>
                <a:ea typeface="Courier New" pitchFamily="34" charset="-122"/>
                <a:cs typeface="Courier New" pitchFamily="34" charset="-120"/>
              </a:rPr>
              <a:t>01</a:t>
            </a:r>
            <a:endParaRPr lang="en-US" sz="2000" dirty="0"/>
          </a:p>
        </p:txBody>
      </p:sp>
      <p:sp>
        <p:nvSpPr>
          <p:cNvPr id="30" name="Text 28"/>
          <p:cNvSpPr txBox="1"/>
          <p:nvPr/>
        </p:nvSpPr>
        <p:spPr>
          <a:xfrm>
            <a:off x="7479792" y="2286000"/>
            <a:ext cx="1024128" cy="320040"/>
          </a:xfrm>
          <a:prstGeom prst="rect">
            <a:avLst/>
          </a:prstGeom>
          <a:noFill/>
          <a:ln/>
        </p:spPr>
        <p:txBody>
          <a:bodyPr wrap="square" lIns="0" tIns="0" rIns="0" bIns="0" rtlCol="0" anchor="ctr"/>
          <a:lstStyle/>
          <a:p>
            <a:pPr marL="0" indent="0" algn="ctr">
              <a:buNone/>
            </a:pPr>
            <a:r>
              <a:rPr lang="en-US" sz="1100" dirty="0">
                <a:solidFill>
                  <a:srgbClr val="5B6B7F"/>
                </a:solidFill>
                <a:latin typeface="Calibri" pitchFamily="34" charset="0"/>
                <a:ea typeface="Calibri" pitchFamily="34" charset="-122"/>
                <a:cs typeface="Calibri" pitchFamily="34" charset="-120"/>
              </a:rPr>
              <a:t>Number</a:t>
            </a:r>
            <a:endParaRPr lang="en-US" sz="1100" dirty="0"/>
          </a:p>
        </p:txBody>
      </p:sp>
      <p:sp>
        <p:nvSpPr>
          <p:cNvPr id="31" name="Shape 29"/>
          <p:cNvSpPr/>
          <p:nvPr/>
        </p:nvSpPr>
        <p:spPr>
          <a:xfrm>
            <a:off x="457200" y="2834640"/>
            <a:ext cx="8229600" cy="960120"/>
          </a:xfrm>
          <a:prstGeom prst="roundRect">
            <a:avLst>
              <a:gd name="adj" fmla="val 5714"/>
            </a:avLst>
          </a:prstGeom>
          <a:solidFill>
            <a:srgbClr val="EEF1F6"/>
          </a:solidFill>
          <a:ln w="12700">
            <a:solidFill>
              <a:srgbClr val="EEF1F6"/>
            </a:solidFill>
            <a:prstDash val="solid"/>
          </a:ln>
        </p:spPr>
      </p:sp>
      <p:sp>
        <p:nvSpPr>
          <p:cNvPr id="32" name="Text 30"/>
          <p:cNvSpPr txBox="1"/>
          <p:nvPr/>
        </p:nvSpPr>
        <p:spPr>
          <a:xfrm>
            <a:off x="640080" y="2926080"/>
            <a:ext cx="4572000" cy="411480"/>
          </a:xfrm>
          <a:prstGeom prst="rect">
            <a:avLst/>
          </a:prstGeom>
          <a:noFill/>
          <a:ln/>
        </p:spPr>
        <p:txBody>
          <a:bodyPr wrap="square" lIns="0" tIns="0" rIns="0" bIns="0" rtlCol="0" anchor="ctr"/>
          <a:lstStyle/>
          <a:p>
            <a:pPr marL="0" indent="0">
              <a:buNone/>
            </a:pPr>
            <a:r>
              <a:rPr lang="en-US" sz="2000" b="1" dirty="0">
                <a:solidFill>
                  <a:srgbClr val="14213D"/>
                </a:solidFill>
                <a:latin typeface="Courier New" pitchFamily="34" charset="0"/>
                <a:ea typeface="Courier New" pitchFamily="34" charset="-122"/>
                <a:cs typeface="Courier New" pitchFamily="34" charset="-120"/>
              </a:rPr>
              <a:t>cmr-prd-cas-vm-cbs-ol-01</a:t>
            </a:r>
            <a:endParaRPr lang="en-US" sz="2000" dirty="0"/>
          </a:p>
        </p:txBody>
      </p:sp>
      <p:sp>
        <p:nvSpPr>
          <p:cNvPr id="33" name="Text 31"/>
          <p:cNvSpPr txBox="1"/>
          <p:nvPr/>
        </p:nvSpPr>
        <p:spPr>
          <a:xfrm>
            <a:off x="640080" y="3337560"/>
            <a:ext cx="7863840" cy="365760"/>
          </a:xfrm>
          <a:prstGeom prst="rect">
            <a:avLst/>
          </a:prstGeom>
          <a:noFill/>
          <a:ln/>
        </p:spPr>
        <p:txBody>
          <a:bodyPr wrap="square" lIns="0" tIns="0" rIns="0" bIns="0" rtlCol="0" anchor="ctr"/>
          <a:lstStyle/>
          <a:p>
            <a:pPr marL="0" indent="0">
              <a:buNone/>
            </a:pPr>
            <a:r>
              <a:rPr lang="en-US" sz="1300" i="1" dirty="0">
                <a:solidFill>
                  <a:srgbClr val="1F2933"/>
                </a:solidFill>
                <a:latin typeface="Calibri" pitchFamily="34" charset="0"/>
                <a:ea typeface="Calibri" pitchFamily="34" charset="-122"/>
                <a:cs typeface="Calibri" pitchFamily="34" charset="-120"/>
              </a:rPr>
              <a:t>"Production Oracle Linux VM for core banking in Casablanca, number 01"</a:t>
            </a:r>
            <a:endParaRPr lang="en-US" sz="1300" dirty="0"/>
          </a:p>
        </p:txBody>
      </p:sp>
      <p:sp>
        <p:nvSpPr>
          <p:cNvPr id="34" name="Text 32"/>
          <p:cNvSpPr txBox="1"/>
          <p:nvPr/>
        </p:nvSpPr>
        <p:spPr>
          <a:xfrm>
            <a:off x="457200" y="3977640"/>
            <a:ext cx="8229600" cy="548640"/>
          </a:xfrm>
          <a:prstGeom prst="rect">
            <a:avLst/>
          </a:prstGeom>
          <a:noFill/>
          <a:ln/>
        </p:spPr>
        <p:txBody>
          <a:bodyPr wrap="square" lIns="0" tIns="0" rIns="0" bIns="0" rtlCol="0" anchor="ctr"/>
          <a:lstStyle/>
          <a:p>
            <a:pPr marL="0" indent="0">
              <a:buNone/>
            </a:pPr>
            <a:r>
              <a:rPr lang="en-US" sz="1200" b="1" dirty="0">
                <a:solidFill>
                  <a:srgbClr val="1F2933"/>
                </a:solidFill>
                <a:latin typeface="Calibri" pitchFamily="34" charset="0"/>
                <a:ea typeface="Calibri" pitchFamily="34" charset="-122"/>
                <a:cs typeface="Calibri" pitchFamily="34" charset="-120"/>
              </a:rPr>
              <a:t>Rules: </a:t>
            </a:r>
            <a:r>
              <a:rPr lang="en-US" sz="1200" dirty="0">
                <a:solidFill>
                  <a:srgbClr val="1F2933"/>
                </a:solidFill>
                <a:latin typeface="Calibri" pitchFamily="34" charset="0"/>
                <a:ea typeface="Calibri" pitchFamily="34" charset="-122"/>
                <a:cs typeface="Calibri" pitchFamily="34" charset="-120"/>
              </a:rPr>
              <a:t>lowercase a–z, 0–9 and hyphens only  ·  fields separated by a single hyphen  ·  *qualifier only for some resource types  ·  max 40 characters</a:t>
            </a:r>
            <a:endParaRPr lang="en-US" sz="1200" dirty="0"/>
          </a:p>
        </p:txBody>
      </p:sp>
      <p:sp>
        <p:nvSpPr>
          <p:cNvPr id="35" name="Text 33"/>
          <p:cNvSpPr txBox="1"/>
          <p:nvPr/>
        </p:nvSpPr>
        <p:spPr>
          <a:xfrm>
            <a:off x="457200" y="4800600"/>
            <a:ext cx="4572000" cy="228600"/>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OCI Naming Standard  ·  cmr</a:t>
            </a:r>
            <a:endParaRPr lang="en-US" sz="900" dirty="0"/>
          </a:p>
        </p:txBody>
      </p:sp>
      <p:sp>
        <p:nvSpPr>
          <p:cNvPr id="36" name="Text 34"/>
          <p:cNvSpPr txBox="1"/>
          <p:nvPr/>
        </p:nvSpPr>
        <p:spPr>
          <a:xfrm>
            <a:off x="8229600" y="4800600"/>
            <a:ext cx="457200" cy="228600"/>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4213D"/>
                </a:solidFill>
                <a:latin typeface="Calibri" pitchFamily="34" charset="0"/>
                <a:ea typeface="Calibri" pitchFamily="34" charset="-122"/>
                <a:cs typeface="Calibri" pitchFamily="34" charset="-120"/>
              </a:rPr>
              <a:t>Fields 1–3: who, which environment, where</a:t>
            </a:r>
            <a:endParaRPr lang="en-US" sz="2800" dirty="0"/>
          </a:p>
        </p:txBody>
      </p:sp>
      <p:sp>
        <p:nvSpPr>
          <p:cNvPr id="3" name="Shape 1"/>
          <p:cNvSpPr/>
          <p:nvPr/>
        </p:nvSpPr>
        <p:spPr>
          <a:xfrm>
            <a:off x="457200" y="1234440"/>
            <a:ext cx="2606040" cy="3291840"/>
          </a:xfrm>
          <a:prstGeom prst="roundRect">
            <a:avLst>
              <a:gd name="adj" fmla="val 2105"/>
            </a:avLst>
          </a:prstGeom>
          <a:solidFill>
            <a:srgbClr val="F4F5F7"/>
          </a:solidFill>
          <a:ln w="12700">
            <a:solidFill>
              <a:srgbClr val="F4F5F7"/>
            </a:solidFill>
            <a:prstDash val="solid"/>
          </a:ln>
        </p:spPr>
      </p:sp>
      <p:sp>
        <p:nvSpPr>
          <p:cNvPr id="4" name="Shape 2"/>
          <p:cNvSpPr/>
          <p:nvPr/>
        </p:nvSpPr>
        <p:spPr>
          <a:xfrm>
            <a:off x="640080" y="1417320"/>
            <a:ext cx="914400" cy="384048"/>
          </a:xfrm>
          <a:prstGeom prst="roundRect">
            <a:avLst>
              <a:gd name="adj" fmla="val 19048"/>
            </a:avLst>
          </a:prstGeom>
          <a:solidFill>
            <a:srgbClr val="14213D"/>
          </a:solidFill>
          <a:ln w="12700">
            <a:solidFill>
              <a:srgbClr val="14213D"/>
            </a:solidFill>
            <a:prstDash val="solid"/>
          </a:ln>
        </p:spPr>
      </p:sp>
      <p:sp>
        <p:nvSpPr>
          <p:cNvPr id="5" name="Text 3"/>
          <p:cNvSpPr txBox="1"/>
          <p:nvPr/>
        </p:nvSpPr>
        <p:spPr>
          <a:xfrm>
            <a:off x="640080" y="1417320"/>
            <a:ext cx="91440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org</a:t>
            </a:r>
            <a:endParaRPr lang="en-US" sz="1400" dirty="0"/>
          </a:p>
        </p:txBody>
      </p:sp>
      <p:sp>
        <p:nvSpPr>
          <p:cNvPr id="6" name="Text 4"/>
          <p:cNvSpPr txBox="1"/>
          <p:nvPr/>
        </p:nvSpPr>
        <p:spPr>
          <a:xfrm>
            <a:off x="1691640" y="1417320"/>
            <a:ext cx="1280160" cy="384048"/>
          </a:xfrm>
          <a:prstGeom prst="rect">
            <a:avLst/>
          </a:prstGeom>
          <a:noFill/>
          <a:ln/>
        </p:spPr>
        <p:txBody>
          <a:bodyPr wrap="square" lIns="0" tIns="0" rIns="0" bIns="0"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Organisation</a:t>
            </a:r>
            <a:endParaRPr lang="en-US" sz="1500" dirty="0"/>
          </a:p>
        </p:txBody>
      </p:sp>
      <p:sp>
        <p:nvSpPr>
          <p:cNvPr id="7" name="Text 5"/>
          <p:cNvSpPr txBox="1"/>
          <p:nvPr/>
        </p:nvSpPr>
        <p:spPr>
          <a:xfrm>
            <a:off x="640080" y="1965960"/>
            <a:ext cx="2286000" cy="274320"/>
          </a:xfrm>
          <a:prstGeom prst="rect">
            <a:avLst/>
          </a:prstGeom>
          <a:noFill/>
          <a:ln/>
        </p:spPr>
        <p:txBody>
          <a:bodyPr wrap="square" lIns="0" tIns="0" rIns="0" bIns="0" rtlCol="0" anchor="ctr"/>
          <a:lstStyle/>
          <a:p>
            <a:pPr marL="0" indent="0">
              <a:buNone/>
            </a:pPr>
            <a:r>
              <a:rPr lang="en-US" sz="1500" b="1" dirty="0">
                <a:solidFill>
                  <a:srgbClr val="14213D"/>
                </a:solidFill>
                <a:latin typeface="Courier New" pitchFamily="34" charset="0"/>
                <a:ea typeface="Courier New" pitchFamily="34" charset="-122"/>
                <a:cs typeface="Courier New" pitchFamily="34" charset="-120"/>
              </a:rPr>
              <a:t>cmr</a:t>
            </a:r>
            <a:endParaRPr lang="en-US" sz="1500" dirty="0"/>
          </a:p>
        </p:txBody>
      </p:sp>
      <p:sp>
        <p:nvSpPr>
          <p:cNvPr id="8" name="Text 6"/>
          <p:cNvSpPr txBox="1"/>
          <p:nvPr/>
        </p:nvSpPr>
        <p:spPr>
          <a:xfrm>
            <a:off x="640080" y="2240280"/>
            <a:ext cx="2286000" cy="274320"/>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Always cmr. No other value.</a:t>
            </a:r>
            <a:endParaRPr lang="en-US" sz="1200" dirty="0"/>
          </a:p>
        </p:txBody>
      </p:sp>
      <p:sp>
        <p:nvSpPr>
          <p:cNvPr id="9" name="Shape 7"/>
          <p:cNvSpPr/>
          <p:nvPr/>
        </p:nvSpPr>
        <p:spPr>
          <a:xfrm>
            <a:off x="3246120" y="1234440"/>
            <a:ext cx="2606040" cy="3291840"/>
          </a:xfrm>
          <a:prstGeom prst="roundRect">
            <a:avLst>
              <a:gd name="adj" fmla="val 2105"/>
            </a:avLst>
          </a:prstGeom>
          <a:solidFill>
            <a:srgbClr val="F4F5F7"/>
          </a:solidFill>
          <a:ln w="12700">
            <a:solidFill>
              <a:srgbClr val="F4F5F7"/>
            </a:solidFill>
            <a:prstDash val="solid"/>
          </a:ln>
        </p:spPr>
      </p:sp>
      <p:sp>
        <p:nvSpPr>
          <p:cNvPr id="10" name="Shape 8"/>
          <p:cNvSpPr/>
          <p:nvPr/>
        </p:nvSpPr>
        <p:spPr>
          <a:xfrm>
            <a:off x="3429000" y="1417320"/>
            <a:ext cx="914400" cy="384048"/>
          </a:xfrm>
          <a:prstGeom prst="roundRect">
            <a:avLst>
              <a:gd name="adj" fmla="val 19048"/>
            </a:avLst>
          </a:prstGeom>
          <a:solidFill>
            <a:srgbClr val="0F7B8A"/>
          </a:solidFill>
          <a:ln w="12700">
            <a:solidFill>
              <a:srgbClr val="0F7B8A"/>
            </a:solidFill>
            <a:prstDash val="solid"/>
          </a:ln>
        </p:spPr>
      </p:sp>
      <p:sp>
        <p:nvSpPr>
          <p:cNvPr id="11" name="Text 9"/>
          <p:cNvSpPr txBox="1"/>
          <p:nvPr/>
        </p:nvSpPr>
        <p:spPr>
          <a:xfrm>
            <a:off x="3429000" y="1417320"/>
            <a:ext cx="91440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env</a:t>
            </a:r>
            <a:endParaRPr lang="en-US" sz="1400" dirty="0"/>
          </a:p>
        </p:txBody>
      </p:sp>
      <p:sp>
        <p:nvSpPr>
          <p:cNvPr id="12" name="Text 10"/>
          <p:cNvSpPr txBox="1"/>
          <p:nvPr/>
        </p:nvSpPr>
        <p:spPr>
          <a:xfrm>
            <a:off x="4480560" y="1417320"/>
            <a:ext cx="1280160" cy="384048"/>
          </a:xfrm>
          <a:prstGeom prst="rect">
            <a:avLst/>
          </a:prstGeom>
          <a:noFill/>
          <a:ln/>
        </p:spPr>
        <p:txBody>
          <a:bodyPr wrap="square" lIns="0" tIns="0" rIns="0" bIns="0"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Environment</a:t>
            </a:r>
            <a:endParaRPr lang="en-US" sz="1500" dirty="0"/>
          </a:p>
        </p:txBody>
      </p:sp>
      <p:sp>
        <p:nvSpPr>
          <p:cNvPr id="13" name="Text 11"/>
          <p:cNvSpPr txBox="1"/>
          <p:nvPr/>
        </p:nvSpPr>
        <p:spPr>
          <a:xfrm>
            <a:off x="3429000" y="1965960"/>
            <a:ext cx="2286000" cy="274320"/>
          </a:xfrm>
          <a:prstGeom prst="rect">
            <a:avLst/>
          </a:prstGeom>
          <a:noFill/>
          <a:ln/>
        </p:spPr>
        <p:txBody>
          <a:bodyPr wrap="square" lIns="0" tIns="0" rIns="0" bIns="0" rtlCol="0" anchor="ctr"/>
          <a:lstStyle/>
          <a:p>
            <a:pPr marL="0" indent="0">
              <a:buNone/>
            </a:pPr>
            <a:r>
              <a:rPr lang="en-US" sz="1500" b="1" dirty="0">
                <a:solidFill>
                  <a:srgbClr val="0F7B8A"/>
                </a:solidFill>
                <a:latin typeface="Courier New" pitchFamily="34" charset="0"/>
                <a:ea typeface="Courier New" pitchFamily="34" charset="-122"/>
                <a:cs typeface="Courier New" pitchFamily="34" charset="-120"/>
              </a:rPr>
              <a:t>dev</a:t>
            </a:r>
            <a:endParaRPr lang="en-US" sz="1500" dirty="0"/>
          </a:p>
        </p:txBody>
      </p:sp>
      <p:sp>
        <p:nvSpPr>
          <p:cNvPr id="14" name="Text 12"/>
          <p:cNvSpPr txBox="1"/>
          <p:nvPr/>
        </p:nvSpPr>
        <p:spPr>
          <a:xfrm>
            <a:off x="3429000" y="2240280"/>
            <a:ext cx="2286000" cy="274320"/>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Development</a:t>
            </a:r>
            <a:endParaRPr lang="en-US" sz="1200" dirty="0"/>
          </a:p>
        </p:txBody>
      </p:sp>
      <p:sp>
        <p:nvSpPr>
          <p:cNvPr id="15" name="Text 13"/>
          <p:cNvSpPr txBox="1"/>
          <p:nvPr/>
        </p:nvSpPr>
        <p:spPr>
          <a:xfrm>
            <a:off x="3429000" y="2587752"/>
            <a:ext cx="2286000" cy="274320"/>
          </a:xfrm>
          <a:prstGeom prst="rect">
            <a:avLst/>
          </a:prstGeom>
          <a:noFill/>
          <a:ln/>
        </p:spPr>
        <p:txBody>
          <a:bodyPr wrap="square" lIns="0" tIns="0" rIns="0" bIns="0" rtlCol="0" anchor="ctr"/>
          <a:lstStyle/>
          <a:p>
            <a:pPr marL="0" indent="0">
              <a:buNone/>
            </a:pPr>
            <a:r>
              <a:rPr lang="en-US" sz="1500" b="1" dirty="0">
                <a:solidFill>
                  <a:srgbClr val="0F7B8A"/>
                </a:solidFill>
                <a:latin typeface="Courier New" pitchFamily="34" charset="0"/>
                <a:ea typeface="Courier New" pitchFamily="34" charset="-122"/>
                <a:cs typeface="Courier New" pitchFamily="34" charset="-120"/>
              </a:rPr>
              <a:t>hm1–hm6</a:t>
            </a:r>
            <a:endParaRPr lang="en-US" sz="1500" dirty="0"/>
          </a:p>
        </p:txBody>
      </p:sp>
      <p:sp>
        <p:nvSpPr>
          <p:cNvPr id="16" name="Text 14"/>
          <p:cNvSpPr txBox="1"/>
          <p:nvPr/>
        </p:nvSpPr>
        <p:spPr>
          <a:xfrm>
            <a:off x="3429000" y="2862072"/>
            <a:ext cx="2286000" cy="274320"/>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Homologation 1 to 6</a:t>
            </a:r>
            <a:endParaRPr lang="en-US" sz="1200" dirty="0"/>
          </a:p>
        </p:txBody>
      </p:sp>
      <p:sp>
        <p:nvSpPr>
          <p:cNvPr id="17" name="Text 15"/>
          <p:cNvSpPr txBox="1"/>
          <p:nvPr/>
        </p:nvSpPr>
        <p:spPr>
          <a:xfrm>
            <a:off x="3429000" y="3209544"/>
            <a:ext cx="2286000" cy="274320"/>
          </a:xfrm>
          <a:prstGeom prst="rect">
            <a:avLst/>
          </a:prstGeom>
          <a:noFill/>
          <a:ln/>
        </p:spPr>
        <p:txBody>
          <a:bodyPr wrap="square" lIns="0" tIns="0" rIns="0" bIns="0" rtlCol="0" anchor="ctr"/>
          <a:lstStyle/>
          <a:p>
            <a:pPr marL="0" indent="0">
              <a:buNone/>
            </a:pPr>
            <a:r>
              <a:rPr lang="en-US" sz="1500" b="1" dirty="0">
                <a:solidFill>
                  <a:srgbClr val="0F7B8A"/>
                </a:solidFill>
                <a:latin typeface="Courier New" pitchFamily="34" charset="0"/>
                <a:ea typeface="Courier New" pitchFamily="34" charset="-122"/>
                <a:cs typeface="Courier New" pitchFamily="34" charset="-120"/>
              </a:rPr>
              <a:t>pre</a:t>
            </a:r>
            <a:endParaRPr lang="en-US" sz="1500" dirty="0"/>
          </a:p>
        </p:txBody>
      </p:sp>
      <p:sp>
        <p:nvSpPr>
          <p:cNvPr id="18" name="Text 16"/>
          <p:cNvSpPr txBox="1"/>
          <p:nvPr/>
        </p:nvSpPr>
        <p:spPr>
          <a:xfrm>
            <a:off x="3429000" y="3483864"/>
            <a:ext cx="2286000" cy="274320"/>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Pre-production</a:t>
            </a:r>
            <a:endParaRPr lang="en-US" sz="1200" dirty="0"/>
          </a:p>
        </p:txBody>
      </p:sp>
      <p:sp>
        <p:nvSpPr>
          <p:cNvPr id="19" name="Text 17"/>
          <p:cNvSpPr txBox="1"/>
          <p:nvPr/>
        </p:nvSpPr>
        <p:spPr>
          <a:xfrm>
            <a:off x="3429000" y="3831336"/>
            <a:ext cx="2286000" cy="274320"/>
          </a:xfrm>
          <a:prstGeom prst="rect">
            <a:avLst/>
          </a:prstGeom>
          <a:noFill/>
          <a:ln/>
        </p:spPr>
        <p:txBody>
          <a:bodyPr wrap="square" lIns="0" tIns="0" rIns="0" bIns="0" rtlCol="0" anchor="ctr"/>
          <a:lstStyle/>
          <a:p>
            <a:pPr marL="0" indent="0">
              <a:buNone/>
            </a:pPr>
            <a:r>
              <a:rPr lang="en-US" sz="1500" b="1" dirty="0">
                <a:solidFill>
                  <a:srgbClr val="0F7B8A"/>
                </a:solidFill>
                <a:latin typeface="Courier New" pitchFamily="34" charset="0"/>
                <a:ea typeface="Courier New" pitchFamily="34" charset="-122"/>
                <a:cs typeface="Courier New" pitchFamily="34" charset="-120"/>
              </a:rPr>
              <a:t>prd</a:t>
            </a:r>
            <a:endParaRPr lang="en-US" sz="1500" dirty="0"/>
          </a:p>
        </p:txBody>
      </p:sp>
      <p:sp>
        <p:nvSpPr>
          <p:cNvPr id="20" name="Text 18"/>
          <p:cNvSpPr txBox="1"/>
          <p:nvPr/>
        </p:nvSpPr>
        <p:spPr>
          <a:xfrm>
            <a:off x="3429000" y="4105656"/>
            <a:ext cx="2286000" cy="274320"/>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Production</a:t>
            </a:r>
            <a:endParaRPr lang="en-US" sz="1200" dirty="0"/>
          </a:p>
        </p:txBody>
      </p:sp>
      <p:sp>
        <p:nvSpPr>
          <p:cNvPr id="21" name="Shape 19"/>
          <p:cNvSpPr/>
          <p:nvPr/>
        </p:nvSpPr>
        <p:spPr>
          <a:xfrm>
            <a:off x="6035040" y="1234440"/>
            <a:ext cx="2606040" cy="3291840"/>
          </a:xfrm>
          <a:prstGeom prst="roundRect">
            <a:avLst>
              <a:gd name="adj" fmla="val 2105"/>
            </a:avLst>
          </a:prstGeom>
          <a:solidFill>
            <a:srgbClr val="F4F5F7"/>
          </a:solidFill>
          <a:ln w="12700">
            <a:solidFill>
              <a:srgbClr val="F4F5F7"/>
            </a:solidFill>
            <a:prstDash val="solid"/>
          </a:ln>
        </p:spPr>
      </p:sp>
      <p:sp>
        <p:nvSpPr>
          <p:cNvPr id="22" name="Shape 20"/>
          <p:cNvSpPr/>
          <p:nvPr/>
        </p:nvSpPr>
        <p:spPr>
          <a:xfrm>
            <a:off x="6217920" y="1417320"/>
            <a:ext cx="914400" cy="384048"/>
          </a:xfrm>
          <a:prstGeom prst="roundRect">
            <a:avLst>
              <a:gd name="adj" fmla="val 19048"/>
            </a:avLst>
          </a:prstGeom>
          <a:solidFill>
            <a:srgbClr val="6A4C93"/>
          </a:solidFill>
          <a:ln w="12700">
            <a:solidFill>
              <a:srgbClr val="6A4C93"/>
            </a:solidFill>
            <a:prstDash val="solid"/>
          </a:ln>
        </p:spPr>
      </p:sp>
      <p:sp>
        <p:nvSpPr>
          <p:cNvPr id="23" name="Text 21"/>
          <p:cNvSpPr txBox="1"/>
          <p:nvPr/>
        </p:nvSpPr>
        <p:spPr>
          <a:xfrm>
            <a:off x="6217920" y="1417320"/>
            <a:ext cx="91440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rgn</a:t>
            </a:r>
            <a:endParaRPr lang="en-US" sz="1400" dirty="0"/>
          </a:p>
        </p:txBody>
      </p:sp>
      <p:sp>
        <p:nvSpPr>
          <p:cNvPr id="24" name="Text 22"/>
          <p:cNvSpPr txBox="1"/>
          <p:nvPr/>
        </p:nvSpPr>
        <p:spPr>
          <a:xfrm>
            <a:off x="7269480" y="1417320"/>
            <a:ext cx="1280160" cy="384048"/>
          </a:xfrm>
          <a:prstGeom prst="rect">
            <a:avLst/>
          </a:prstGeom>
          <a:noFill/>
          <a:ln/>
        </p:spPr>
        <p:txBody>
          <a:bodyPr wrap="square" lIns="0" tIns="0" rIns="0" bIns="0"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Region</a:t>
            </a:r>
            <a:endParaRPr lang="en-US" sz="1500" dirty="0"/>
          </a:p>
        </p:txBody>
      </p:sp>
      <p:sp>
        <p:nvSpPr>
          <p:cNvPr id="25" name="Text 23"/>
          <p:cNvSpPr txBox="1"/>
          <p:nvPr/>
        </p:nvSpPr>
        <p:spPr>
          <a:xfrm>
            <a:off x="6217920" y="1965960"/>
            <a:ext cx="2286000" cy="274320"/>
          </a:xfrm>
          <a:prstGeom prst="rect">
            <a:avLst/>
          </a:prstGeom>
          <a:noFill/>
          <a:ln/>
        </p:spPr>
        <p:txBody>
          <a:bodyPr wrap="square" lIns="0" tIns="0" rIns="0" bIns="0" rtlCol="0" anchor="ctr"/>
          <a:lstStyle/>
          <a:p>
            <a:pPr marL="0" indent="0">
              <a:buNone/>
            </a:pPr>
            <a:r>
              <a:rPr lang="en-US" sz="1500" b="1" dirty="0">
                <a:solidFill>
                  <a:srgbClr val="6A4C93"/>
                </a:solidFill>
                <a:latin typeface="Courier New" pitchFamily="34" charset="0"/>
                <a:ea typeface="Courier New" pitchFamily="34" charset="-122"/>
                <a:cs typeface="Courier New" pitchFamily="34" charset="-120"/>
              </a:rPr>
              <a:t>cas</a:t>
            </a:r>
            <a:endParaRPr lang="en-US" sz="1500" dirty="0"/>
          </a:p>
        </p:txBody>
      </p:sp>
      <p:sp>
        <p:nvSpPr>
          <p:cNvPr id="26" name="Text 24"/>
          <p:cNvSpPr txBox="1"/>
          <p:nvPr/>
        </p:nvSpPr>
        <p:spPr>
          <a:xfrm>
            <a:off x="6217920" y="2240280"/>
            <a:ext cx="2286000" cy="274320"/>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Casablanca, Morocco (primary)</a:t>
            </a:r>
            <a:endParaRPr lang="en-US" sz="1200" dirty="0"/>
          </a:p>
        </p:txBody>
      </p:sp>
      <p:sp>
        <p:nvSpPr>
          <p:cNvPr id="27" name="Text 25"/>
          <p:cNvSpPr txBox="1"/>
          <p:nvPr/>
        </p:nvSpPr>
        <p:spPr>
          <a:xfrm>
            <a:off x="6217920" y="2587752"/>
            <a:ext cx="2286000" cy="274320"/>
          </a:xfrm>
          <a:prstGeom prst="rect">
            <a:avLst/>
          </a:prstGeom>
          <a:noFill/>
          <a:ln/>
        </p:spPr>
        <p:txBody>
          <a:bodyPr wrap="square" lIns="0" tIns="0" rIns="0" bIns="0" rtlCol="0" anchor="ctr"/>
          <a:lstStyle/>
          <a:p>
            <a:pPr marL="0" indent="0">
              <a:buNone/>
            </a:pPr>
            <a:r>
              <a:rPr lang="en-US" sz="1500" b="1" dirty="0">
                <a:solidFill>
                  <a:srgbClr val="6A4C93"/>
                </a:solidFill>
                <a:latin typeface="Courier New" pitchFamily="34" charset="0"/>
                <a:ea typeface="Courier New" pitchFamily="34" charset="-122"/>
                <a:cs typeface="Courier New" pitchFamily="34" charset="-120"/>
              </a:rPr>
              <a:t>jnb</a:t>
            </a:r>
            <a:endParaRPr lang="en-US" sz="1500" dirty="0"/>
          </a:p>
        </p:txBody>
      </p:sp>
      <p:sp>
        <p:nvSpPr>
          <p:cNvPr id="28" name="Text 26"/>
          <p:cNvSpPr txBox="1"/>
          <p:nvPr/>
        </p:nvSpPr>
        <p:spPr>
          <a:xfrm>
            <a:off x="6217920" y="2862072"/>
            <a:ext cx="2286000" cy="274320"/>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Johannesburg, S. Africa (recovery)</a:t>
            </a:r>
            <a:endParaRPr lang="en-US" sz="1200" dirty="0"/>
          </a:p>
        </p:txBody>
      </p:sp>
      <p:sp>
        <p:nvSpPr>
          <p:cNvPr id="29" name="Text 27"/>
          <p:cNvSpPr txBox="1"/>
          <p:nvPr/>
        </p:nvSpPr>
        <p:spPr>
          <a:xfrm>
            <a:off x="457200" y="4800600"/>
            <a:ext cx="4572000" cy="228600"/>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OCI Naming Standard  ·  cmr</a:t>
            </a:r>
            <a:endParaRPr lang="en-US" sz="900" dirty="0"/>
          </a:p>
        </p:txBody>
      </p:sp>
      <p:sp>
        <p:nvSpPr>
          <p:cNvPr id="30" name="Text 28"/>
          <p:cNvSpPr txBox="1"/>
          <p:nvPr/>
        </p:nvSpPr>
        <p:spPr>
          <a:xfrm>
            <a:off x="8229600" y="4800600"/>
            <a:ext cx="457200" cy="228600"/>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4213D"/>
                </a:solidFill>
                <a:latin typeface="Calibri" pitchFamily="34" charset="0"/>
                <a:ea typeface="Calibri" pitchFamily="34" charset="-122"/>
                <a:cs typeface="Calibri" pitchFamily="34" charset="-120"/>
              </a:rPr>
              <a:t>Choosing the environment</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300" dirty="0">
                <a:solidFill>
                  <a:srgbClr val="5B6B7F"/>
                </a:solidFill>
                <a:latin typeface="Calibri" pitchFamily="34" charset="0"/>
                <a:ea typeface="Calibri" pitchFamily="34" charset="-122"/>
                <a:cs typeface="Calibri" pitchFamily="34" charset="-120"/>
              </a:rPr>
              <a:t>Three-character codes: impossible to confuse production with anything else</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120640" cy="2667000"/>
        </p:xfrm>
        <a:graphic>
          <a:graphicData uri="http://schemas.openxmlformats.org/drawingml/2006/table">
            <a:tbl>
              <a:tblPr/>
              <a:tblGrid>
                <a:gridCol w="868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36576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Code</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4213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Environment</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4213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runs there</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4213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Compartment tier</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1F2933"/>
                          </a:solidFill>
                          <a:latin typeface="Courier New" pitchFamily="34" charset="0"/>
                          <a:ea typeface="Courier New" pitchFamily="34" charset="-122"/>
                          <a:cs typeface="Courier New" pitchFamily="34" charset="-120"/>
                        </a:rPr>
                        <a:t>dev</a:t>
                      </a:r>
                      <a:endParaRPr lang="en-US" sz="1100" dirty="0">
                        <a:latin typeface="Courier New" charset="0"/>
                        <a:ea typeface="Courier New" charset="0"/>
                        <a:cs typeface="Courier New"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Development</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Developer builds, unit and early integration testing</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ourier New" pitchFamily="34" charset="0"/>
                          <a:ea typeface="Courier New" pitchFamily="34" charset="-122"/>
                          <a:cs typeface="Courier New" pitchFamily="34" charset="-120"/>
                        </a:rPr>
                        <a:t>cmr-npd</a:t>
                      </a:r>
                      <a:endParaRPr lang="en-US" sz="1100" dirty="0">
                        <a:latin typeface="Courier New" charset="0"/>
                        <a:ea typeface="Courier New" charset="0"/>
                        <a:cs typeface="Courier New"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00" dirty="0">
                          <a:solidFill>
                            <a:srgbClr val="1F2933"/>
                          </a:solidFill>
                          <a:latin typeface="Courier New" pitchFamily="34" charset="0"/>
                          <a:ea typeface="Courier New" pitchFamily="34" charset="-122"/>
                          <a:cs typeface="Courier New" pitchFamily="34" charset="-120"/>
                        </a:rPr>
                        <a:t>hm1–hm6</a:t>
                      </a:r>
                      <a:endParaRPr lang="en-US" sz="1100" dirty="0">
                        <a:latin typeface="Courier New" charset="0"/>
                        <a:ea typeface="Courier New" charset="0"/>
                        <a:cs typeface="Courier New"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4F5F7"/>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Homologation 1 to 6</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4F5F7"/>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Acceptance and integration testing, one environment per stream</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4F5F7"/>
                    </a:solidFill>
                  </a:tcPr>
                </a:tc>
                <a:tc>
                  <a:txBody>
                    <a:bodyPr/>
                    <a:lstStyle/>
                    <a:p>
                      <a:pPr marL="0" indent="0">
                        <a:buNone/>
                      </a:pPr>
                      <a:r>
                        <a:rPr lang="en-US" sz="1100" dirty="0">
                          <a:solidFill>
                            <a:srgbClr val="1F2933"/>
                          </a:solidFill>
                          <a:latin typeface="Courier New" pitchFamily="34" charset="0"/>
                          <a:ea typeface="Courier New" pitchFamily="34" charset="-122"/>
                          <a:cs typeface="Courier New" pitchFamily="34" charset="-120"/>
                        </a:rPr>
                        <a:t>cmr-npd</a:t>
                      </a:r>
                      <a:endParaRPr lang="en-US" sz="1100" dirty="0">
                        <a:latin typeface="Courier New" charset="0"/>
                        <a:ea typeface="Courier New" charset="0"/>
                        <a:cs typeface="Courier New"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365760">
                <a:tc>
                  <a:txBody>
                    <a:bodyPr/>
                    <a:lstStyle/>
                    <a:p>
                      <a:pPr marL="0" indent="0">
                        <a:buNone/>
                      </a:pPr>
                      <a:r>
                        <a:rPr lang="en-US" sz="1100" dirty="0">
                          <a:solidFill>
                            <a:srgbClr val="1F2933"/>
                          </a:solidFill>
                          <a:latin typeface="Courier New" pitchFamily="34" charset="0"/>
                          <a:ea typeface="Courier New" pitchFamily="34" charset="-122"/>
                          <a:cs typeface="Courier New" pitchFamily="34" charset="-120"/>
                        </a:rPr>
                        <a:t>pre</a:t>
                      </a:r>
                      <a:endParaRPr lang="en-US" sz="1100" dirty="0">
                        <a:latin typeface="Courier New" charset="0"/>
                        <a:ea typeface="Courier New" charset="0"/>
                        <a:cs typeface="Courier New"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Pre-production</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Final production-like rehearsal before go-live</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ourier New" pitchFamily="34" charset="0"/>
                          <a:ea typeface="Courier New" pitchFamily="34" charset="-122"/>
                          <a:cs typeface="Courier New" pitchFamily="34" charset="-120"/>
                        </a:rPr>
                        <a:t>cmr-pre</a:t>
                      </a:r>
                      <a:endParaRPr lang="en-US" sz="1100" dirty="0">
                        <a:latin typeface="Courier New" charset="0"/>
                        <a:ea typeface="Courier New" charset="0"/>
                        <a:cs typeface="Courier New"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00" dirty="0">
                          <a:solidFill>
                            <a:srgbClr val="1F2933"/>
                          </a:solidFill>
                          <a:latin typeface="Courier New" pitchFamily="34" charset="0"/>
                          <a:ea typeface="Courier New" pitchFamily="34" charset="-122"/>
                          <a:cs typeface="Courier New" pitchFamily="34" charset="-120"/>
                        </a:rPr>
                        <a:t>prd</a:t>
                      </a:r>
                      <a:endParaRPr lang="en-US" sz="1100" dirty="0">
                        <a:latin typeface="Courier New" charset="0"/>
                        <a:ea typeface="Courier New" charset="0"/>
                        <a:cs typeface="Courier New"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4F5F7"/>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Production</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4F5F7"/>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Live services and their DR copies</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4F5F7"/>
                    </a:solidFill>
                  </a:tcPr>
                </a:tc>
                <a:tc>
                  <a:txBody>
                    <a:bodyPr/>
                    <a:lstStyle/>
                    <a:p>
                      <a:pPr marL="0" indent="0">
                        <a:buNone/>
                      </a:pPr>
                      <a:r>
                        <a:rPr lang="en-US" sz="1100" dirty="0">
                          <a:solidFill>
                            <a:srgbClr val="1F2933"/>
                          </a:solidFill>
                          <a:latin typeface="Courier New" pitchFamily="34" charset="0"/>
                          <a:ea typeface="Courier New" pitchFamily="34" charset="-122"/>
                          <a:cs typeface="Courier New" pitchFamily="34" charset="-120"/>
                        </a:rPr>
                        <a:t>cmr-prd</a:t>
                      </a:r>
                      <a:endParaRPr lang="en-US" sz="1100" dirty="0">
                        <a:latin typeface="Courier New" charset="0"/>
                        <a:ea typeface="Courier New" charset="0"/>
                        <a:cs typeface="Courier New"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4F5F7"/>
                    </a:solidFill>
                  </a:tcPr>
                </a:tc>
                <a:extLst>
                  <a:ext uri="{0D108BD9-81ED-4DB2-BD59-A6C34878D82A}">
                    <a16:rowId xmlns:a16="http://schemas.microsoft.com/office/drawing/2014/main" val="10004"/>
                  </a:ext>
                </a:extLst>
              </a:tr>
              <a:tr h="365760">
                <a:tc>
                  <a:txBody>
                    <a:bodyPr/>
                    <a:lstStyle/>
                    <a:p>
                      <a:pPr marL="0" indent="0">
                        <a:buNone/>
                      </a:pPr>
                      <a:r>
                        <a:rPr lang="en-US" sz="1100" dirty="0">
                          <a:solidFill>
                            <a:srgbClr val="1F2933"/>
                          </a:solidFill>
                          <a:latin typeface="Courier New" pitchFamily="34" charset="0"/>
                          <a:ea typeface="Courier New" pitchFamily="34" charset="-122"/>
                          <a:cs typeface="Courier New" pitchFamily="34" charset="-120"/>
                        </a:rPr>
                        <a:t>npd</a:t>
                      </a:r>
                      <a:endParaRPr lang="en-US" sz="1100" dirty="0">
                        <a:latin typeface="Courier New" charset="0"/>
                        <a:ea typeface="Courier New" charset="0"/>
                        <a:cs typeface="Courier New"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Shared non-production</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Only for infrastructure shared by several non-prod environments (e.g. non-prod hub network)</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ourier New" pitchFamily="34" charset="0"/>
                          <a:ea typeface="Courier New" pitchFamily="34" charset="-122"/>
                          <a:cs typeface="Courier New" pitchFamily="34" charset="-120"/>
                        </a:rPr>
                        <a:t>cmr-npd</a:t>
                      </a:r>
                      <a:endParaRPr lang="en-US" sz="1100" dirty="0">
                        <a:latin typeface="Courier New" charset="0"/>
                        <a:ea typeface="Courier New" charset="0"/>
                        <a:cs typeface="Courier New"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852160" y="1280160"/>
            <a:ext cx="2834640" cy="3108960"/>
          </a:xfrm>
          <a:prstGeom prst="roundRect">
            <a:avLst>
              <a:gd name="adj" fmla="val 1935"/>
            </a:avLst>
          </a:prstGeom>
          <a:solidFill>
            <a:srgbClr val="EEF1F6"/>
          </a:solidFill>
          <a:ln w="12700">
            <a:solidFill>
              <a:srgbClr val="EEF1F6"/>
            </a:solidFill>
            <a:prstDash val="solid"/>
          </a:ln>
        </p:spPr>
      </p:sp>
      <p:sp>
        <p:nvSpPr>
          <p:cNvPr id="4" name="Text 3"/>
          <p:cNvSpPr txBox="1"/>
          <p:nvPr/>
        </p:nvSpPr>
        <p:spPr>
          <a:xfrm>
            <a:off x="6035040" y="1417320"/>
            <a:ext cx="2560320" cy="320040"/>
          </a:xfrm>
          <a:prstGeom prst="rect">
            <a:avLst/>
          </a:prstGeom>
          <a:noFill/>
          <a:ln/>
        </p:spPr>
        <p:txBody>
          <a:bodyPr wrap="square" lIns="0" tIns="0" rIns="0" bIns="0"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How to decide</a:t>
            </a:r>
            <a:endParaRPr lang="en-US" sz="1500" dirty="0"/>
          </a:p>
        </p:txBody>
      </p:sp>
      <p:sp>
        <p:nvSpPr>
          <p:cNvPr id="7" name="Text 4"/>
          <p:cNvSpPr txBox="1"/>
          <p:nvPr/>
        </p:nvSpPr>
        <p:spPr>
          <a:xfrm>
            <a:off x="6035040" y="1783080"/>
            <a:ext cx="2560320" cy="25603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Live customers or production data → prd</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DR copy of production → prd (only the region changes)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Development work → dev</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One homologation environment → its hm number</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Shared by several non-prod environments → npd</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Never: prod, p, pp, test, uat, dr</a:t>
            </a:r>
            <a:endParaRPr lang="en-US" sz="1200" dirty="0"/>
          </a:p>
        </p:txBody>
      </p:sp>
      <p:sp>
        <p:nvSpPr>
          <p:cNvPr id="8" name="Text 5"/>
          <p:cNvSpPr txBox="1"/>
          <p:nvPr/>
        </p:nvSpPr>
        <p:spPr>
          <a:xfrm>
            <a:off x="457200" y="4800600"/>
            <a:ext cx="4572000" cy="228600"/>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OCI Naming Standard  ·  cmr</a:t>
            </a:r>
            <a:endParaRPr lang="en-US" sz="900" dirty="0"/>
          </a:p>
        </p:txBody>
      </p:sp>
      <p:sp>
        <p:nvSpPr>
          <p:cNvPr id="9" name="Text 6"/>
          <p:cNvSpPr txBox="1"/>
          <p:nvPr/>
        </p:nvSpPr>
        <p:spPr>
          <a:xfrm>
            <a:off x="8229600" y="4800600"/>
            <a:ext cx="457200" cy="228600"/>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4213D"/>
                </a:solidFill>
                <a:latin typeface="Calibri" pitchFamily="34" charset="0"/>
                <a:ea typeface="Calibri" pitchFamily="34" charset="-122"/>
                <a:cs typeface="Calibri" pitchFamily="34" charset="-120"/>
              </a:rPr>
              <a:t>Choosing the region</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300" dirty="0">
                <a:solidFill>
                  <a:srgbClr val="5B6B7F"/>
                </a:solidFill>
                <a:latin typeface="Calibri" pitchFamily="34" charset="0"/>
                <a:ea typeface="Calibri" pitchFamily="34" charset="-122"/>
                <a:cs typeface="Calibri" pitchFamily="34" charset="-120"/>
              </a:rPr>
              <a:t>Where the resource physically lives: the region selected in the Console or Terraform</a:t>
            </a:r>
            <a:endParaRPr lang="en-US" sz="1300" dirty="0"/>
          </a:p>
        </p:txBody>
      </p:sp>
      <p:sp>
        <p:nvSpPr>
          <p:cNvPr id="4" name="Shape 2"/>
          <p:cNvSpPr/>
          <p:nvPr/>
        </p:nvSpPr>
        <p:spPr>
          <a:xfrm>
            <a:off x="457200" y="1325880"/>
            <a:ext cx="2560320" cy="2194560"/>
          </a:xfrm>
          <a:prstGeom prst="roundRect">
            <a:avLst>
              <a:gd name="adj" fmla="val 2500"/>
            </a:avLst>
          </a:prstGeom>
          <a:solidFill>
            <a:srgbClr val="F4F5F7"/>
          </a:solidFill>
          <a:ln w="12700">
            <a:solidFill>
              <a:srgbClr val="F4F5F7"/>
            </a:solidFill>
            <a:prstDash val="solid"/>
          </a:ln>
        </p:spPr>
      </p:sp>
      <p:sp>
        <p:nvSpPr>
          <p:cNvPr id="5" name="Shape 3"/>
          <p:cNvSpPr/>
          <p:nvPr/>
        </p:nvSpPr>
        <p:spPr>
          <a:xfrm>
            <a:off x="640080" y="1508760"/>
            <a:ext cx="868680" cy="457200"/>
          </a:xfrm>
          <a:prstGeom prst="roundRect">
            <a:avLst>
              <a:gd name="adj" fmla="val 16000"/>
            </a:avLst>
          </a:prstGeom>
          <a:solidFill>
            <a:srgbClr val="6A4C93"/>
          </a:solidFill>
          <a:ln w="12700">
            <a:solidFill>
              <a:srgbClr val="6A4C93"/>
            </a:solidFill>
            <a:prstDash val="solid"/>
          </a:ln>
        </p:spPr>
      </p:sp>
      <p:sp>
        <p:nvSpPr>
          <p:cNvPr id="6" name="Text 4"/>
          <p:cNvSpPr txBox="1"/>
          <p:nvPr/>
        </p:nvSpPr>
        <p:spPr>
          <a:xfrm>
            <a:off x="640080" y="1508760"/>
            <a:ext cx="8686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ourier New" pitchFamily="34" charset="0"/>
                <a:ea typeface="Courier New" pitchFamily="34" charset="-122"/>
                <a:cs typeface="Courier New" pitchFamily="34" charset="-120"/>
              </a:rPr>
              <a:t>cas</a:t>
            </a:r>
            <a:endParaRPr lang="en-US" sz="1800" dirty="0"/>
          </a:p>
        </p:txBody>
      </p:sp>
      <p:sp>
        <p:nvSpPr>
          <p:cNvPr id="7" name="Text 5"/>
          <p:cNvSpPr txBox="1"/>
          <p:nvPr/>
        </p:nvSpPr>
        <p:spPr>
          <a:xfrm>
            <a:off x="640080" y="2103120"/>
            <a:ext cx="2194560" cy="365760"/>
          </a:xfrm>
          <a:prstGeom prst="rect">
            <a:avLst/>
          </a:prstGeom>
          <a:noFill/>
          <a:ln/>
        </p:spPr>
        <p:txBody>
          <a:bodyPr wrap="square" lIns="0" tIns="0" rIns="0" bIns="0" rtlCol="0" anchor="ctr"/>
          <a:lstStyle/>
          <a:p>
            <a:pPr marL="0" indent="0">
              <a:buNone/>
            </a:pPr>
            <a:r>
              <a:rPr lang="en-US" sz="1700" b="1" dirty="0">
                <a:solidFill>
                  <a:srgbClr val="14213D"/>
                </a:solidFill>
                <a:latin typeface="Calibri" pitchFamily="34" charset="0"/>
                <a:ea typeface="Calibri" pitchFamily="34" charset="-122"/>
                <a:cs typeface="Calibri" pitchFamily="34" charset="-120"/>
              </a:rPr>
              <a:t>Casablanca</a:t>
            </a:r>
            <a:endParaRPr lang="en-US" sz="1700" dirty="0"/>
          </a:p>
        </p:txBody>
      </p:sp>
      <p:sp>
        <p:nvSpPr>
          <p:cNvPr id="8" name="Text 6"/>
          <p:cNvSpPr txBox="1"/>
          <p:nvPr/>
        </p:nvSpPr>
        <p:spPr>
          <a:xfrm>
            <a:off x="640080" y="2468880"/>
            <a:ext cx="2194560" cy="274320"/>
          </a:xfrm>
          <a:prstGeom prst="rect">
            <a:avLst/>
          </a:prstGeom>
          <a:noFill/>
          <a:ln/>
        </p:spPr>
        <p:txBody>
          <a:bodyPr wrap="square" lIns="0" tIns="0" rIns="0" bIns="0" rtlCol="0" anchor="ctr"/>
          <a:lstStyle/>
          <a:p>
            <a:pPr marL="0" indent="0">
              <a:buNone/>
            </a:pPr>
            <a:r>
              <a:rPr lang="en-US" sz="1200" dirty="0">
                <a:solidFill>
                  <a:srgbClr val="5B6B7F"/>
                </a:solidFill>
                <a:latin typeface="Calibri" pitchFamily="34" charset="0"/>
                <a:ea typeface="Calibri" pitchFamily="34" charset="-122"/>
                <a:cs typeface="Calibri" pitchFamily="34" charset="-120"/>
              </a:rPr>
              <a:t>Morocco West</a:t>
            </a:r>
            <a:endParaRPr lang="en-US" sz="1200" dirty="0"/>
          </a:p>
        </p:txBody>
      </p:sp>
      <p:sp>
        <p:nvSpPr>
          <p:cNvPr id="9" name="Text 7"/>
          <p:cNvSpPr txBox="1"/>
          <p:nvPr/>
        </p:nvSpPr>
        <p:spPr>
          <a:xfrm>
            <a:off x="640080" y="2743200"/>
            <a:ext cx="2194560" cy="274320"/>
          </a:xfrm>
          <a:prstGeom prst="rect">
            <a:avLst/>
          </a:prstGeom>
          <a:noFill/>
          <a:ln/>
        </p:spPr>
        <p:txBody>
          <a:bodyPr wrap="square" lIns="0" tIns="0" rIns="0" bIns="0" rtlCol="0" anchor="ctr"/>
          <a:lstStyle/>
          <a:p>
            <a:pPr marL="0" indent="0">
              <a:buNone/>
            </a:pPr>
            <a:r>
              <a:rPr lang="en-US" sz="1100" dirty="0">
                <a:solidFill>
                  <a:srgbClr val="5B6B7F"/>
                </a:solidFill>
                <a:latin typeface="Courier New" pitchFamily="34" charset="0"/>
                <a:ea typeface="Courier New" pitchFamily="34" charset="-122"/>
                <a:cs typeface="Courier New" pitchFamily="34" charset="-120"/>
              </a:rPr>
              <a:t>af-casablanca-1</a:t>
            </a:r>
            <a:endParaRPr lang="en-US" sz="1100" dirty="0"/>
          </a:p>
        </p:txBody>
      </p:sp>
      <p:sp>
        <p:nvSpPr>
          <p:cNvPr id="10" name="Text 8"/>
          <p:cNvSpPr txBox="1"/>
          <p:nvPr/>
        </p:nvSpPr>
        <p:spPr>
          <a:xfrm>
            <a:off x="640080" y="3063240"/>
            <a:ext cx="2194560" cy="320040"/>
          </a:xfrm>
          <a:prstGeom prst="rect">
            <a:avLst/>
          </a:prstGeom>
          <a:noFill/>
          <a:ln/>
        </p:spPr>
        <p:txBody>
          <a:bodyPr wrap="square" lIns="0" tIns="0" rIns="0" bIns="0" rtlCol="0" anchor="ctr"/>
          <a:lstStyle/>
          <a:p>
            <a:pPr marL="0" indent="0">
              <a:buNone/>
            </a:pPr>
            <a:r>
              <a:rPr lang="en-US" sz="1300" b="1" dirty="0">
                <a:solidFill>
                  <a:srgbClr val="6A4C93"/>
                </a:solidFill>
                <a:latin typeface="Calibri" pitchFamily="34" charset="0"/>
                <a:ea typeface="Calibri" pitchFamily="34" charset="-122"/>
                <a:cs typeface="Calibri" pitchFamily="34" charset="-120"/>
              </a:rPr>
              <a:t>Primary site</a:t>
            </a:r>
            <a:endParaRPr lang="en-US" sz="1300" dirty="0"/>
          </a:p>
        </p:txBody>
      </p:sp>
      <p:sp>
        <p:nvSpPr>
          <p:cNvPr id="11" name="Shape 9"/>
          <p:cNvSpPr/>
          <p:nvPr/>
        </p:nvSpPr>
        <p:spPr>
          <a:xfrm>
            <a:off x="3200400" y="1325880"/>
            <a:ext cx="2560320" cy="2194560"/>
          </a:xfrm>
          <a:prstGeom prst="roundRect">
            <a:avLst>
              <a:gd name="adj" fmla="val 2500"/>
            </a:avLst>
          </a:prstGeom>
          <a:solidFill>
            <a:srgbClr val="F4F5F7"/>
          </a:solidFill>
          <a:ln w="12700">
            <a:solidFill>
              <a:srgbClr val="F4F5F7"/>
            </a:solidFill>
            <a:prstDash val="solid"/>
          </a:ln>
        </p:spPr>
      </p:sp>
      <p:sp>
        <p:nvSpPr>
          <p:cNvPr id="12" name="Shape 10"/>
          <p:cNvSpPr/>
          <p:nvPr/>
        </p:nvSpPr>
        <p:spPr>
          <a:xfrm>
            <a:off x="3383280" y="1508760"/>
            <a:ext cx="868680" cy="457200"/>
          </a:xfrm>
          <a:prstGeom prst="roundRect">
            <a:avLst>
              <a:gd name="adj" fmla="val 16000"/>
            </a:avLst>
          </a:prstGeom>
          <a:solidFill>
            <a:srgbClr val="6A4C93"/>
          </a:solidFill>
          <a:ln w="12700">
            <a:solidFill>
              <a:srgbClr val="6A4C93"/>
            </a:solidFill>
            <a:prstDash val="solid"/>
          </a:ln>
        </p:spPr>
      </p:sp>
      <p:sp>
        <p:nvSpPr>
          <p:cNvPr id="13" name="Text 11"/>
          <p:cNvSpPr txBox="1"/>
          <p:nvPr/>
        </p:nvSpPr>
        <p:spPr>
          <a:xfrm>
            <a:off x="3383280" y="1508760"/>
            <a:ext cx="8686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ourier New" pitchFamily="34" charset="0"/>
                <a:ea typeface="Courier New" pitchFamily="34" charset="-122"/>
                <a:cs typeface="Courier New" pitchFamily="34" charset="-120"/>
              </a:rPr>
              <a:t>jnb</a:t>
            </a:r>
            <a:endParaRPr lang="en-US" sz="1800" dirty="0"/>
          </a:p>
        </p:txBody>
      </p:sp>
      <p:sp>
        <p:nvSpPr>
          <p:cNvPr id="14" name="Text 12"/>
          <p:cNvSpPr txBox="1"/>
          <p:nvPr/>
        </p:nvSpPr>
        <p:spPr>
          <a:xfrm>
            <a:off x="3383280" y="2103120"/>
            <a:ext cx="2194560" cy="365760"/>
          </a:xfrm>
          <a:prstGeom prst="rect">
            <a:avLst/>
          </a:prstGeom>
          <a:noFill/>
          <a:ln/>
        </p:spPr>
        <p:txBody>
          <a:bodyPr wrap="square" lIns="0" tIns="0" rIns="0" bIns="0" rtlCol="0" anchor="ctr"/>
          <a:lstStyle/>
          <a:p>
            <a:pPr marL="0" indent="0">
              <a:buNone/>
            </a:pPr>
            <a:r>
              <a:rPr lang="en-US" sz="1700" b="1" dirty="0">
                <a:solidFill>
                  <a:srgbClr val="14213D"/>
                </a:solidFill>
                <a:latin typeface="Calibri" pitchFamily="34" charset="0"/>
                <a:ea typeface="Calibri" pitchFamily="34" charset="-122"/>
                <a:cs typeface="Calibri" pitchFamily="34" charset="-120"/>
              </a:rPr>
              <a:t>Johannesburg</a:t>
            </a:r>
            <a:endParaRPr lang="en-US" sz="1700" dirty="0"/>
          </a:p>
        </p:txBody>
      </p:sp>
      <p:sp>
        <p:nvSpPr>
          <p:cNvPr id="15" name="Text 13"/>
          <p:cNvSpPr txBox="1"/>
          <p:nvPr/>
        </p:nvSpPr>
        <p:spPr>
          <a:xfrm>
            <a:off x="3383280" y="2468880"/>
            <a:ext cx="2194560" cy="274320"/>
          </a:xfrm>
          <a:prstGeom prst="rect">
            <a:avLst/>
          </a:prstGeom>
          <a:noFill/>
          <a:ln/>
        </p:spPr>
        <p:txBody>
          <a:bodyPr wrap="square" lIns="0" tIns="0" rIns="0" bIns="0" rtlCol="0" anchor="ctr"/>
          <a:lstStyle/>
          <a:p>
            <a:pPr marL="0" indent="0">
              <a:buNone/>
            </a:pPr>
            <a:r>
              <a:rPr lang="en-US" sz="1200" dirty="0">
                <a:solidFill>
                  <a:srgbClr val="5B6B7F"/>
                </a:solidFill>
                <a:latin typeface="Calibri" pitchFamily="34" charset="0"/>
                <a:ea typeface="Calibri" pitchFamily="34" charset="-122"/>
                <a:cs typeface="Calibri" pitchFamily="34" charset="-120"/>
              </a:rPr>
              <a:t>South Africa Central</a:t>
            </a:r>
            <a:endParaRPr lang="en-US" sz="1200" dirty="0"/>
          </a:p>
        </p:txBody>
      </p:sp>
      <p:sp>
        <p:nvSpPr>
          <p:cNvPr id="16" name="Text 14"/>
          <p:cNvSpPr txBox="1"/>
          <p:nvPr/>
        </p:nvSpPr>
        <p:spPr>
          <a:xfrm>
            <a:off x="3383280" y="2743200"/>
            <a:ext cx="2194560" cy="274320"/>
          </a:xfrm>
          <a:prstGeom prst="rect">
            <a:avLst/>
          </a:prstGeom>
          <a:noFill/>
          <a:ln/>
        </p:spPr>
        <p:txBody>
          <a:bodyPr wrap="square" lIns="0" tIns="0" rIns="0" bIns="0" rtlCol="0" anchor="ctr"/>
          <a:lstStyle/>
          <a:p>
            <a:pPr marL="0" indent="0">
              <a:buNone/>
            </a:pPr>
            <a:r>
              <a:rPr lang="en-US" sz="1100" dirty="0">
                <a:solidFill>
                  <a:srgbClr val="5B6B7F"/>
                </a:solidFill>
                <a:latin typeface="Courier New" pitchFamily="34" charset="0"/>
                <a:ea typeface="Courier New" pitchFamily="34" charset="-122"/>
                <a:cs typeface="Courier New" pitchFamily="34" charset="-120"/>
              </a:rPr>
              <a:t>af-johannesburg-1</a:t>
            </a:r>
            <a:endParaRPr lang="en-US" sz="1100" dirty="0"/>
          </a:p>
        </p:txBody>
      </p:sp>
      <p:sp>
        <p:nvSpPr>
          <p:cNvPr id="17" name="Text 15"/>
          <p:cNvSpPr txBox="1"/>
          <p:nvPr/>
        </p:nvSpPr>
        <p:spPr>
          <a:xfrm>
            <a:off x="3383280" y="3063240"/>
            <a:ext cx="2194560" cy="320040"/>
          </a:xfrm>
          <a:prstGeom prst="rect">
            <a:avLst/>
          </a:prstGeom>
          <a:noFill/>
          <a:ln/>
        </p:spPr>
        <p:txBody>
          <a:bodyPr wrap="square" lIns="0" tIns="0" rIns="0" bIns="0" rtlCol="0" anchor="ctr"/>
          <a:lstStyle/>
          <a:p>
            <a:pPr marL="0" indent="0">
              <a:buNone/>
            </a:pPr>
            <a:r>
              <a:rPr lang="en-US" sz="1300" b="1" dirty="0">
                <a:solidFill>
                  <a:srgbClr val="6A4C93"/>
                </a:solidFill>
                <a:latin typeface="Calibri" pitchFamily="34" charset="0"/>
                <a:ea typeface="Calibri" pitchFamily="34" charset="-122"/>
                <a:cs typeface="Calibri" pitchFamily="34" charset="-120"/>
              </a:rPr>
              <a:t>Recovery site</a:t>
            </a:r>
            <a:endParaRPr lang="en-US" sz="1300" dirty="0"/>
          </a:p>
        </p:txBody>
      </p:sp>
      <p:sp>
        <p:nvSpPr>
          <p:cNvPr id="18" name="Shape 16"/>
          <p:cNvSpPr/>
          <p:nvPr/>
        </p:nvSpPr>
        <p:spPr>
          <a:xfrm>
            <a:off x="6035040" y="1325880"/>
            <a:ext cx="2651760" cy="2194560"/>
          </a:xfrm>
          <a:prstGeom prst="roundRect">
            <a:avLst>
              <a:gd name="adj" fmla="val 2500"/>
            </a:avLst>
          </a:prstGeom>
          <a:solidFill>
            <a:srgbClr val="EEF1F6"/>
          </a:solidFill>
          <a:ln w="12700">
            <a:solidFill>
              <a:srgbClr val="EEF1F6"/>
            </a:solidFill>
            <a:prstDash val="solid"/>
          </a:ln>
        </p:spPr>
      </p:sp>
      <p:sp>
        <p:nvSpPr>
          <p:cNvPr id="19" name="Text 17"/>
          <p:cNvSpPr txBox="1"/>
          <p:nvPr/>
        </p:nvSpPr>
        <p:spPr>
          <a:xfrm>
            <a:off x="6217920" y="1463040"/>
            <a:ext cx="2377440" cy="457200"/>
          </a:xfrm>
          <a:prstGeom prst="rect">
            <a:avLst/>
          </a:prstGeom>
          <a:noFill/>
          <a:ln/>
        </p:spPr>
        <p:txBody>
          <a:bodyPr wrap="square" lIns="0" tIns="0" rIns="0" bIns="0"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DR = same name, other region</a:t>
            </a:r>
            <a:endParaRPr lang="en-US" sz="1400" dirty="0"/>
          </a:p>
        </p:txBody>
      </p:sp>
      <p:sp>
        <p:nvSpPr>
          <p:cNvPr id="20" name="Text 18"/>
          <p:cNvSpPr txBox="1"/>
          <p:nvPr/>
        </p:nvSpPr>
        <p:spPr>
          <a:xfrm>
            <a:off x="6217920" y="2011680"/>
            <a:ext cx="2377440" cy="274320"/>
          </a:xfrm>
          <a:prstGeom prst="rect">
            <a:avLst/>
          </a:prstGeom>
          <a:noFill/>
          <a:ln/>
        </p:spPr>
        <p:txBody>
          <a:bodyPr wrap="square" lIns="0" tIns="0" rIns="0" bIns="0" rtlCol="0" anchor="ctr"/>
          <a:lstStyle/>
          <a:p>
            <a:pPr marL="0" indent="0">
              <a:buNone/>
            </a:pPr>
            <a:r>
              <a:rPr lang="en-US" sz="1100" dirty="0">
                <a:solidFill>
                  <a:srgbClr val="1F2933"/>
                </a:solidFill>
                <a:latin typeface="Courier New" pitchFamily="34" charset="0"/>
                <a:ea typeface="Courier New" pitchFamily="34" charset="-122"/>
                <a:cs typeface="Courier New" pitchFamily="34" charset="-120"/>
              </a:rPr>
              <a:t>cmr-prd-cas-dbs-cbs-rac-01</a:t>
            </a:r>
            <a:endParaRPr lang="en-US" sz="1100" dirty="0"/>
          </a:p>
        </p:txBody>
      </p:sp>
      <p:sp>
        <p:nvSpPr>
          <p:cNvPr id="21" name="Text 19"/>
          <p:cNvSpPr txBox="1"/>
          <p:nvPr/>
        </p:nvSpPr>
        <p:spPr>
          <a:xfrm>
            <a:off x="6217920" y="2286000"/>
            <a:ext cx="2377440" cy="274320"/>
          </a:xfrm>
          <a:prstGeom prst="rect">
            <a:avLst/>
          </a:prstGeom>
          <a:noFill/>
          <a:ln/>
        </p:spPr>
        <p:txBody>
          <a:bodyPr wrap="square" lIns="0" tIns="0" rIns="0" bIns="0" rtlCol="0" anchor="ctr"/>
          <a:lstStyle/>
          <a:p>
            <a:pPr marL="0" indent="0">
              <a:buNone/>
            </a:pPr>
            <a:r>
              <a:rPr lang="en-US" sz="1100" dirty="0">
                <a:solidFill>
                  <a:srgbClr val="5B6B7F"/>
                </a:solidFill>
                <a:latin typeface="Calibri" pitchFamily="34" charset="0"/>
                <a:ea typeface="Calibri" pitchFamily="34" charset="-122"/>
                <a:cs typeface="Calibri" pitchFamily="34" charset="-120"/>
              </a:rPr>
              <a:t>↓ DR copy</a:t>
            </a:r>
            <a:endParaRPr lang="en-US" sz="1100" dirty="0"/>
          </a:p>
        </p:txBody>
      </p:sp>
      <p:sp>
        <p:nvSpPr>
          <p:cNvPr id="22" name="Text 20"/>
          <p:cNvSpPr txBox="1"/>
          <p:nvPr/>
        </p:nvSpPr>
        <p:spPr>
          <a:xfrm>
            <a:off x="6217920" y="2560320"/>
            <a:ext cx="2377440" cy="274320"/>
          </a:xfrm>
          <a:prstGeom prst="rect">
            <a:avLst/>
          </a:prstGeom>
          <a:noFill/>
          <a:ln/>
        </p:spPr>
        <p:txBody>
          <a:bodyPr wrap="square" lIns="0" tIns="0" rIns="0" bIns="0" rtlCol="0" anchor="ctr"/>
          <a:lstStyle/>
          <a:p>
            <a:pPr marL="0" indent="0">
              <a:buNone/>
            </a:pPr>
            <a:r>
              <a:rPr lang="en-US" sz="1100" dirty="0">
                <a:solidFill>
                  <a:srgbClr val="1F2933"/>
                </a:solidFill>
                <a:latin typeface="Courier New" pitchFamily="34" charset="0"/>
                <a:ea typeface="Courier New" pitchFamily="34" charset="-122"/>
                <a:cs typeface="Courier New" pitchFamily="34" charset="-120"/>
              </a:rPr>
              <a:t>cmr-prd-jnb-dbs-cbs-rac-01</a:t>
            </a:r>
            <a:endParaRPr lang="en-US" sz="1100" dirty="0"/>
          </a:p>
        </p:txBody>
      </p:sp>
      <p:sp>
        <p:nvSpPr>
          <p:cNvPr id="23" name="Text 21"/>
          <p:cNvSpPr txBox="1"/>
          <p:nvPr/>
        </p:nvSpPr>
        <p:spPr>
          <a:xfrm>
            <a:off x="6217920" y="2926080"/>
            <a:ext cx="2377440" cy="548640"/>
          </a:xfrm>
          <a:prstGeom prst="rect">
            <a:avLst/>
          </a:prstGeom>
          <a:noFill/>
          <a:ln/>
        </p:spPr>
        <p:txBody>
          <a:bodyPr wrap="square" lIns="0" tIns="0" rIns="0" bIns="0" rtlCol="0" anchor="ctr"/>
          <a:lstStyle/>
          <a:p>
            <a:pPr marL="0" indent="0">
              <a:buNone/>
            </a:pPr>
            <a:r>
              <a:rPr lang="en-US" sz="1100" i="1" dirty="0">
                <a:solidFill>
                  <a:srgbClr val="1F2933"/>
                </a:solidFill>
                <a:latin typeface="Calibri" pitchFamily="34" charset="0"/>
                <a:ea typeface="Calibri" pitchFamily="34" charset="-122"/>
                <a:cs typeface="Calibri" pitchFamily="34" charset="-120"/>
              </a:rPr>
              <a:t>Never "primary", "standby" or "dr" in a name: roles swap during failover.</a:t>
            </a:r>
            <a:endParaRPr lang="en-US" sz="1100" dirty="0"/>
          </a:p>
        </p:txBody>
      </p:sp>
      <p:sp>
        <p:nvSpPr>
          <p:cNvPr id="24" name="Text 22"/>
          <p:cNvSpPr txBox="1"/>
          <p:nvPr/>
        </p:nvSpPr>
        <p:spPr>
          <a:xfrm>
            <a:off x="457200" y="3794760"/>
            <a:ext cx="8229600" cy="548640"/>
          </a:xfrm>
          <a:prstGeom prst="rect">
            <a:avLst/>
          </a:prstGeom>
          <a:noFill/>
          <a:ln/>
        </p:spPr>
        <p:txBody>
          <a:bodyPr wrap="square" lIns="0" tIns="0" rIns="0" bIns="0" rtlCol="0" anchor="ctr"/>
          <a:lstStyle/>
          <a:p>
            <a:pPr marL="0" indent="0">
              <a:buNone/>
            </a:pPr>
            <a:r>
              <a:rPr lang="en-US" sz="1200" b="1" dirty="0">
                <a:solidFill>
                  <a:srgbClr val="1F2933"/>
                </a:solidFill>
                <a:latin typeface="Calibri" pitchFamily="34" charset="0"/>
                <a:ea typeface="Calibri" pitchFamily="34" charset="-122"/>
                <a:cs typeface="Calibri" pitchFamily="34" charset="-120"/>
              </a:rPr>
              <a:t>Global resources have no region: </a:t>
            </a:r>
            <a:r>
              <a:rPr lang="en-US" sz="1200" dirty="0">
                <a:solidFill>
                  <a:srgbClr val="1F2933"/>
                </a:solidFill>
                <a:latin typeface="Calibri" pitchFamily="34" charset="0"/>
                <a:ea typeface="Calibri" pitchFamily="34" charset="-122"/>
                <a:cs typeface="Calibri" pitchFamily="34" charset="-120"/>
              </a:rPr>
              <a:t>IAM policies, groups, dynamic groups, identity domains, budgets, quotas, security zones, Cloud Guard targets. Example: cmr-prd-pol-cbs-oper-01</a:t>
            </a:r>
            <a:endParaRPr lang="en-US" sz="1200" dirty="0"/>
          </a:p>
        </p:txBody>
      </p:sp>
      <p:sp>
        <p:nvSpPr>
          <p:cNvPr id="25" name="Text 23"/>
          <p:cNvSpPr txBox="1"/>
          <p:nvPr/>
        </p:nvSpPr>
        <p:spPr>
          <a:xfrm>
            <a:off x="457200" y="4800600"/>
            <a:ext cx="4572000" cy="228600"/>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OCI Naming Standard  ·  cmr</a:t>
            </a:r>
            <a:endParaRPr lang="en-US" sz="900" dirty="0"/>
          </a:p>
        </p:txBody>
      </p:sp>
      <p:sp>
        <p:nvSpPr>
          <p:cNvPr id="26" name="Text 24"/>
          <p:cNvSpPr txBox="1"/>
          <p:nvPr/>
        </p:nvSpPr>
        <p:spPr>
          <a:xfrm>
            <a:off x="8229600" y="4800600"/>
            <a:ext cx="457200" cy="228600"/>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4213D"/>
                </a:solidFill>
                <a:latin typeface="Calibri" pitchFamily="34" charset="0"/>
                <a:ea typeface="Calibri" pitchFamily="34" charset="-122"/>
                <a:cs typeface="Calibri" pitchFamily="34" charset="-120"/>
              </a:rPr>
              <a:t>Field 4: the resource type code</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300" dirty="0">
                <a:solidFill>
                  <a:srgbClr val="5B6B7F"/>
                </a:solidFill>
                <a:latin typeface="Calibri" pitchFamily="34" charset="0"/>
                <a:ea typeface="Calibri" pitchFamily="34" charset="-122"/>
                <a:cs typeface="Calibri" pitchFamily="34" charset="-120"/>
              </a:rPr>
              <a:t>109 codes in the catalogue. The most used:</a:t>
            </a:r>
            <a:endParaRPr lang="en-US" sz="1300" dirty="0"/>
          </a:p>
        </p:txBody>
      </p:sp>
      <p:sp>
        <p:nvSpPr>
          <p:cNvPr id="4" name="Shape 2"/>
          <p:cNvSpPr/>
          <p:nvPr/>
        </p:nvSpPr>
        <p:spPr>
          <a:xfrm>
            <a:off x="457200" y="1280160"/>
            <a:ext cx="4023360" cy="914400"/>
          </a:xfrm>
          <a:prstGeom prst="roundRect">
            <a:avLst>
              <a:gd name="adj" fmla="val 6000"/>
            </a:avLst>
          </a:prstGeom>
          <a:solidFill>
            <a:srgbClr val="F4F5F7"/>
          </a:solidFill>
          <a:ln w="12700">
            <a:solidFill>
              <a:srgbClr val="F4F5F7"/>
            </a:solidFill>
            <a:prstDash val="solid"/>
          </a:ln>
        </p:spPr>
      </p:sp>
      <p:sp>
        <p:nvSpPr>
          <p:cNvPr id="5" name="Text 3"/>
          <p:cNvSpPr txBox="1"/>
          <p:nvPr/>
        </p:nvSpPr>
        <p:spPr>
          <a:xfrm>
            <a:off x="640080" y="1371600"/>
            <a:ext cx="3657600" cy="274320"/>
          </a:xfrm>
          <a:prstGeom prst="rect">
            <a:avLst/>
          </a:prstGeom>
          <a:noFill/>
          <a:ln/>
        </p:spPr>
        <p:txBody>
          <a:bodyPr wrap="square" lIns="0" tIns="0" rIns="0" bIns="0" rtlCol="0" anchor="ctr"/>
          <a:lstStyle/>
          <a:p>
            <a:pPr marL="0" indent="0">
              <a:buNone/>
            </a:pPr>
            <a:r>
              <a:rPr lang="en-US" sz="1300" b="1" dirty="0">
                <a:solidFill>
                  <a:srgbClr val="C74634"/>
                </a:solidFill>
                <a:latin typeface="Calibri" pitchFamily="34" charset="0"/>
                <a:ea typeface="Calibri" pitchFamily="34" charset="-122"/>
                <a:cs typeface="Calibri" pitchFamily="34" charset="-120"/>
              </a:rPr>
              <a:t>Network</a:t>
            </a:r>
            <a:endParaRPr lang="en-US" sz="1300" dirty="0"/>
          </a:p>
        </p:txBody>
      </p:sp>
      <p:sp>
        <p:nvSpPr>
          <p:cNvPr id="6" name="Text 4"/>
          <p:cNvSpPr txBox="1"/>
          <p:nvPr/>
        </p:nvSpPr>
        <p:spPr>
          <a:xfrm>
            <a:off x="640080" y="1664208"/>
            <a:ext cx="3703320" cy="457200"/>
          </a:xfrm>
          <a:prstGeom prst="rect">
            <a:avLst/>
          </a:prstGeom>
          <a:noFill/>
          <a:ln/>
        </p:spPr>
        <p:txBody>
          <a:bodyPr wrap="square" lIns="0" tIns="0" rIns="0" bIns="0" rtlCol="0" anchor="t"/>
          <a:lstStyle/>
          <a:p>
            <a:pPr marL="0" indent="0">
              <a:buNone/>
            </a:pPr>
            <a:r>
              <a:rPr lang="en-US" sz="1200" dirty="0">
                <a:solidFill>
                  <a:srgbClr val="1F2933"/>
                </a:solidFill>
                <a:latin typeface="Courier New" pitchFamily="34" charset="0"/>
                <a:ea typeface="Courier New" pitchFamily="34" charset="-122"/>
                <a:cs typeface="Courier New" pitchFamily="34" charset="-120"/>
              </a:rPr>
              <a:t>vcn  snt  nsg  scl  rtb  drg  dra  igw  ngw  sgw  lpg  rpc  lb  nlb  nfw</a:t>
            </a:r>
            <a:endParaRPr lang="en-US" sz="1200" dirty="0"/>
          </a:p>
        </p:txBody>
      </p:sp>
      <p:sp>
        <p:nvSpPr>
          <p:cNvPr id="7" name="Shape 5"/>
          <p:cNvSpPr/>
          <p:nvPr/>
        </p:nvSpPr>
        <p:spPr>
          <a:xfrm>
            <a:off x="4663440" y="1280160"/>
            <a:ext cx="4023360" cy="914400"/>
          </a:xfrm>
          <a:prstGeom prst="roundRect">
            <a:avLst>
              <a:gd name="adj" fmla="val 6000"/>
            </a:avLst>
          </a:prstGeom>
          <a:solidFill>
            <a:srgbClr val="F4F5F7"/>
          </a:solidFill>
          <a:ln w="12700">
            <a:solidFill>
              <a:srgbClr val="F4F5F7"/>
            </a:solidFill>
            <a:prstDash val="solid"/>
          </a:ln>
        </p:spPr>
      </p:sp>
      <p:sp>
        <p:nvSpPr>
          <p:cNvPr id="8" name="Text 6"/>
          <p:cNvSpPr txBox="1"/>
          <p:nvPr/>
        </p:nvSpPr>
        <p:spPr>
          <a:xfrm>
            <a:off x="4846320" y="1371600"/>
            <a:ext cx="3657600" cy="274320"/>
          </a:xfrm>
          <a:prstGeom prst="rect">
            <a:avLst/>
          </a:prstGeom>
          <a:noFill/>
          <a:ln/>
        </p:spPr>
        <p:txBody>
          <a:bodyPr wrap="square" lIns="0" tIns="0" rIns="0" bIns="0" rtlCol="0" anchor="ctr"/>
          <a:lstStyle/>
          <a:p>
            <a:pPr marL="0" indent="0">
              <a:buNone/>
            </a:pPr>
            <a:r>
              <a:rPr lang="en-US" sz="1300" b="1" dirty="0">
                <a:solidFill>
                  <a:srgbClr val="C74634"/>
                </a:solidFill>
                <a:latin typeface="Calibri" pitchFamily="34" charset="0"/>
                <a:ea typeface="Calibri" pitchFamily="34" charset="-122"/>
                <a:cs typeface="Calibri" pitchFamily="34" charset="-120"/>
              </a:rPr>
              <a:t>Compute &amp; OKE</a:t>
            </a:r>
            <a:endParaRPr lang="en-US" sz="1300" dirty="0"/>
          </a:p>
        </p:txBody>
      </p:sp>
      <p:sp>
        <p:nvSpPr>
          <p:cNvPr id="9" name="Text 7"/>
          <p:cNvSpPr txBox="1"/>
          <p:nvPr/>
        </p:nvSpPr>
        <p:spPr>
          <a:xfrm>
            <a:off x="4846320" y="1664208"/>
            <a:ext cx="3703320" cy="457200"/>
          </a:xfrm>
          <a:prstGeom prst="rect">
            <a:avLst/>
          </a:prstGeom>
          <a:noFill/>
          <a:ln/>
        </p:spPr>
        <p:txBody>
          <a:bodyPr wrap="square" lIns="0" tIns="0" rIns="0" bIns="0" rtlCol="0" anchor="t"/>
          <a:lstStyle/>
          <a:p>
            <a:pPr marL="0" indent="0">
              <a:buNone/>
            </a:pPr>
            <a:r>
              <a:rPr lang="en-US" sz="1200" dirty="0">
                <a:solidFill>
                  <a:srgbClr val="1F2933"/>
                </a:solidFill>
                <a:latin typeface="Courier New" pitchFamily="34" charset="0"/>
                <a:ea typeface="Courier New" pitchFamily="34" charset="-122"/>
                <a:cs typeface="Courier New" pitchFamily="34" charset="-120"/>
              </a:rPr>
              <a:t>vm  bm  ipl  icf  img  blv  vgp  oke  onp</a:t>
            </a:r>
            <a:endParaRPr lang="en-US" sz="1200" dirty="0"/>
          </a:p>
        </p:txBody>
      </p:sp>
      <p:sp>
        <p:nvSpPr>
          <p:cNvPr id="10" name="Shape 8"/>
          <p:cNvSpPr/>
          <p:nvPr/>
        </p:nvSpPr>
        <p:spPr>
          <a:xfrm>
            <a:off x="457200" y="2331720"/>
            <a:ext cx="4023360" cy="914400"/>
          </a:xfrm>
          <a:prstGeom prst="roundRect">
            <a:avLst>
              <a:gd name="adj" fmla="val 6000"/>
            </a:avLst>
          </a:prstGeom>
          <a:solidFill>
            <a:srgbClr val="F4F5F7"/>
          </a:solidFill>
          <a:ln w="12700">
            <a:solidFill>
              <a:srgbClr val="F4F5F7"/>
            </a:solidFill>
            <a:prstDash val="solid"/>
          </a:ln>
        </p:spPr>
      </p:sp>
      <p:sp>
        <p:nvSpPr>
          <p:cNvPr id="11" name="Text 9"/>
          <p:cNvSpPr txBox="1"/>
          <p:nvPr/>
        </p:nvSpPr>
        <p:spPr>
          <a:xfrm>
            <a:off x="640080" y="2423160"/>
            <a:ext cx="3657600" cy="274320"/>
          </a:xfrm>
          <a:prstGeom prst="rect">
            <a:avLst/>
          </a:prstGeom>
          <a:noFill/>
          <a:ln/>
        </p:spPr>
        <p:txBody>
          <a:bodyPr wrap="square" lIns="0" tIns="0" rIns="0" bIns="0" rtlCol="0" anchor="ctr"/>
          <a:lstStyle/>
          <a:p>
            <a:pPr marL="0" indent="0">
              <a:buNone/>
            </a:pPr>
            <a:r>
              <a:rPr lang="en-US" sz="1300" b="1" dirty="0">
                <a:solidFill>
                  <a:srgbClr val="C74634"/>
                </a:solidFill>
                <a:latin typeface="Calibri" pitchFamily="34" charset="0"/>
                <a:ea typeface="Calibri" pitchFamily="34" charset="-122"/>
                <a:cs typeface="Calibri" pitchFamily="34" charset="-120"/>
              </a:rPr>
              <a:t>Database &amp; storage</a:t>
            </a:r>
            <a:endParaRPr lang="en-US" sz="1300" dirty="0"/>
          </a:p>
        </p:txBody>
      </p:sp>
      <p:sp>
        <p:nvSpPr>
          <p:cNvPr id="12" name="Text 10"/>
          <p:cNvSpPr txBox="1"/>
          <p:nvPr/>
        </p:nvSpPr>
        <p:spPr>
          <a:xfrm>
            <a:off x="640080" y="2715768"/>
            <a:ext cx="3703320" cy="457200"/>
          </a:xfrm>
          <a:prstGeom prst="rect">
            <a:avLst/>
          </a:prstGeom>
          <a:noFill/>
          <a:ln/>
        </p:spPr>
        <p:txBody>
          <a:bodyPr wrap="square" lIns="0" tIns="0" rIns="0" bIns="0" rtlCol="0" anchor="t"/>
          <a:lstStyle/>
          <a:p>
            <a:pPr marL="0" indent="0">
              <a:buNone/>
            </a:pPr>
            <a:r>
              <a:rPr lang="en-US" sz="1200" dirty="0">
                <a:solidFill>
                  <a:srgbClr val="1F2933"/>
                </a:solidFill>
                <a:latin typeface="Courier New" pitchFamily="34" charset="0"/>
                <a:ea typeface="Courier New" pitchFamily="34" charset="-122"/>
                <a:cs typeface="Courier New" pitchFamily="34" charset="-120"/>
              </a:rPr>
              <a:t>adb  dbs  exi  exc  mys  pgs  bkt  fss  mnt</a:t>
            </a:r>
            <a:endParaRPr lang="en-US" sz="1200" dirty="0"/>
          </a:p>
        </p:txBody>
      </p:sp>
      <p:sp>
        <p:nvSpPr>
          <p:cNvPr id="13" name="Shape 11"/>
          <p:cNvSpPr/>
          <p:nvPr/>
        </p:nvSpPr>
        <p:spPr>
          <a:xfrm>
            <a:off x="4663440" y="2331720"/>
            <a:ext cx="4023360" cy="914400"/>
          </a:xfrm>
          <a:prstGeom prst="roundRect">
            <a:avLst>
              <a:gd name="adj" fmla="val 6000"/>
            </a:avLst>
          </a:prstGeom>
          <a:solidFill>
            <a:srgbClr val="F4F5F7"/>
          </a:solidFill>
          <a:ln w="12700">
            <a:solidFill>
              <a:srgbClr val="F4F5F7"/>
            </a:solidFill>
            <a:prstDash val="solid"/>
          </a:ln>
        </p:spPr>
      </p:sp>
      <p:sp>
        <p:nvSpPr>
          <p:cNvPr id="14" name="Text 12"/>
          <p:cNvSpPr txBox="1"/>
          <p:nvPr/>
        </p:nvSpPr>
        <p:spPr>
          <a:xfrm>
            <a:off x="4846320" y="2423160"/>
            <a:ext cx="3657600" cy="274320"/>
          </a:xfrm>
          <a:prstGeom prst="rect">
            <a:avLst/>
          </a:prstGeom>
          <a:noFill/>
          <a:ln/>
        </p:spPr>
        <p:txBody>
          <a:bodyPr wrap="square" lIns="0" tIns="0" rIns="0" bIns="0" rtlCol="0" anchor="ctr"/>
          <a:lstStyle/>
          <a:p>
            <a:pPr marL="0" indent="0">
              <a:buNone/>
            </a:pPr>
            <a:r>
              <a:rPr lang="en-US" sz="1300" b="1" dirty="0">
                <a:solidFill>
                  <a:srgbClr val="C74634"/>
                </a:solidFill>
                <a:latin typeface="Calibri" pitchFamily="34" charset="0"/>
                <a:ea typeface="Calibri" pitchFamily="34" charset="-122"/>
                <a:cs typeface="Calibri" pitchFamily="34" charset="-120"/>
              </a:rPr>
              <a:t>Security &amp; ops</a:t>
            </a:r>
            <a:endParaRPr lang="en-US" sz="1300" dirty="0"/>
          </a:p>
        </p:txBody>
      </p:sp>
      <p:sp>
        <p:nvSpPr>
          <p:cNvPr id="15" name="Text 13"/>
          <p:cNvSpPr txBox="1"/>
          <p:nvPr/>
        </p:nvSpPr>
        <p:spPr>
          <a:xfrm>
            <a:off x="4846320" y="2715768"/>
            <a:ext cx="3703320" cy="457200"/>
          </a:xfrm>
          <a:prstGeom prst="rect">
            <a:avLst/>
          </a:prstGeom>
          <a:noFill/>
          <a:ln/>
        </p:spPr>
        <p:txBody>
          <a:bodyPr wrap="square" lIns="0" tIns="0" rIns="0" bIns="0" rtlCol="0" anchor="t"/>
          <a:lstStyle/>
          <a:p>
            <a:pPr marL="0" indent="0">
              <a:buNone/>
            </a:pPr>
            <a:r>
              <a:rPr lang="en-US" sz="1200" dirty="0">
                <a:solidFill>
                  <a:srgbClr val="1F2933"/>
                </a:solidFill>
                <a:latin typeface="Courier New" pitchFamily="34" charset="0"/>
                <a:ea typeface="Courier New" pitchFamily="34" charset="-122"/>
                <a:cs typeface="Courier New" pitchFamily="34" charset="-120"/>
              </a:rPr>
              <a:t>vlt  key  scrt  cert  bst  waf  lgg  log  alm  ons</a:t>
            </a:r>
            <a:endParaRPr lang="en-US" sz="1200" dirty="0"/>
          </a:p>
        </p:txBody>
      </p:sp>
      <p:sp>
        <p:nvSpPr>
          <p:cNvPr id="16" name="Shape 14"/>
          <p:cNvSpPr/>
          <p:nvPr/>
        </p:nvSpPr>
        <p:spPr>
          <a:xfrm>
            <a:off x="457200" y="3383280"/>
            <a:ext cx="4023360" cy="914400"/>
          </a:xfrm>
          <a:prstGeom prst="roundRect">
            <a:avLst>
              <a:gd name="adj" fmla="val 6000"/>
            </a:avLst>
          </a:prstGeom>
          <a:solidFill>
            <a:srgbClr val="F4F5F7"/>
          </a:solidFill>
          <a:ln w="12700">
            <a:solidFill>
              <a:srgbClr val="F4F5F7"/>
            </a:solidFill>
            <a:prstDash val="solid"/>
          </a:ln>
        </p:spPr>
      </p:sp>
      <p:sp>
        <p:nvSpPr>
          <p:cNvPr id="17" name="Text 15"/>
          <p:cNvSpPr txBox="1"/>
          <p:nvPr/>
        </p:nvSpPr>
        <p:spPr>
          <a:xfrm>
            <a:off x="640080" y="3474720"/>
            <a:ext cx="3657600" cy="274320"/>
          </a:xfrm>
          <a:prstGeom prst="rect">
            <a:avLst/>
          </a:prstGeom>
          <a:noFill/>
          <a:ln/>
        </p:spPr>
        <p:txBody>
          <a:bodyPr wrap="square" lIns="0" tIns="0" rIns="0" bIns="0" rtlCol="0" anchor="ctr"/>
          <a:lstStyle/>
          <a:p>
            <a:pPr marL="0" indent="0">
              <a:buNone/>
            </a:pPr>
            <a:r>
              <a:rPr lang="en-US" sz="1300" b="1" dirty="0">
                <a:solidFill>
                  <a:srgbClr val="C74634"/>
                </a:solidFill>
                <a:latin typeface="Calibri" pitchFamily="34" charset="0"/>
                <a:ea typeface="Calibri" pitchFamily="34" charset="-122"/>
                <a:cs typeface="Calibri" pitchFamily="34" charset="-120"/>
              </a:rPr>
              <a:t>Integration &amp; IAM</a:t>
            </a:r>
            <a:endParaRPr lang="en-US" sz="1300" dirty="0"/>
          </a:p>
        </p:txBody>
      </p:sp>
      <p:sp>
        <p:nvSpPr>
          <p:cNvPr id="18" name="Text 16"/>
          <p:cNvSpPr txBox="1"/>
          <p:nvPr/>
        </p:nvSpPr>
        <p:spPr>
          <a:xfrm>
            <a:off x="640080" y="3767328"/>
            <a:ext cx="3703320" cy="457200"/>
          </a:xfrm>
          <a:prstGeom prst="rect">
            <a:avLst/>
          </a:prstGeom>
          <a:noFill/>
          <a:ln/>
        </p:spPr>
        <p:txBody>
          <a:bodyPr wrap="square" lIns="0" tIns="0" rIns="0" bIns="0" rtlCol="0" anchor="t"/>
          <a:lstStyle/>
          <a:p>
            <a:pPr marL="0" indent="0">
              <a:buNone/>
            </a:pPr>
            <a:r>
              <a:rPr lang="en-US" sz="1200" dirty="0">
                <a:solidFill>
                  <a:srgbClr val="1F2933"/>
                </a:solidFill>
                <a:latin typeface="Courier New" pitchFamily="34" charset="0"/>
                <a:ea typeface="Courier New" pitchFamily="34" charset="-122"/>
                <a:cs typeface="Courier New" pitchFamily="34" charset="-120"/>
              </a:rPr>
              <a:t>apg  fna  fn  que  stm  oic  pol  grp  dgp</a:t>
            </a:r>
            <a:endParaRPr lang="en-US" sz="1200" dirty="0"/>
          </a:p>
        </p:txBody>
      </p:sp>
      <p:sp>
        <p:nvSpPr>
          <p:cNvPr id="19" name="Shape 17"/>
          <p:cNvSpPr/>
          <p:nvPr/>
        </p:nvSpPr>
        <p:spPr>
          <a:xfrm>
            <a:off x="4663440" y="3383280"/>
            <a:ext cx="4023360" cy="914400"/>
          </a:xfrm>
          <a:prstGeom prst="roundRect">
            <a:avLst>
              <a:gd name="adj" fmla="val 6000"/>
            </a:avLst>
          </a:prstGeom>
          <a:solidFill>
            <a:srgbClr val="EEF1F6"/>
          </a:solidFill>
          <a:ln w="12700">
            <a:solidFill>
              <a:srgbClr val="EEF1F6"/>
            </a:solidFill>
            <a:prstDash val="solid"/>
          </a:ln>
        </p:spPr>
      </p:sp>
      <p:sp>
        <p:nvSpPr>
          <p:cNvPr id="20" name="Text 18"/>
          <p:cNvSpPr txBox="1"/>
          <p:nvPr/>
        </p:nvSpPr>
        <p:spPr>
          <a:xfrm>
            <a:off x="4846320" y="3474720"/>
            <a:ext cx="3657600" cy="274320"/>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Full list with descriptions and examples:</a:t>
            </a:r>
            <a:endParaRPr lang="en-US" sz="1200" dirty="0"/>
          </a:p>
        </p:txBody>
      </p:sp>
      <p:sp>
        <p:nvSpPr>
          <p:cNvPr id="21" name="Text 19"/>
          <p:cNvSpPr txBox="1"/>
          <p:nvPr/>
        </p:nvSpPr>
        <p:spPr>
          <a:xfrm>
            <a:off x="4846320" y="3794760"/>
            <a:ext cx="3657600" cy="320040"/>
          </a:xfrm>
          <a:prstGeom prst="rect">
            <a:avLst/>
          </a:prstGeom>
          <a:noFill/>
          <a:ln/>
        </p:spPr>
        <p:txBody>
          <a:bodyPr wrap="square" lIns="0" tIns="0" rIns="0" bIns="0" rtlCol="0" anchor="ctr"/>
          <a:lstStyle/>
          <a:p>
            <a:pPr marL="0" indent="0">
              <a:buNone/>
            </a:pPr>
            <a:r>
              <a:rPr lang="en-US" sz="1100" dirty="0">
                <a:solidFill>
                  <a:srgbClr val="1F2933"/>
                </a:solidFill>
                <a:latin typeface="Courier New" pitchFamily="34" charset="0"/>
                <a:ea typeface="Courier New" pitchFamily="34" charset="-122"/>
                <a:cs typeface="Courier New" pitchFamily="34" charset="-120"/>
              </a:rPr>
              <a:t>OCI_Naming_Resource_Type_Codes.xlsx</a:t>
            </a:r>
            <a:endParaRPr lang="en-US" sz="1100" dirty="0"/>
          </a:p>
        </p:txBody>
      </p:sp>
      <p:sp>
        <p:nvSpPr>
          <p:cNvPr id="22" name="Text 20"/>
          <p:cNvSpPr txBox="1"/>
          <p:nvPr/>
        </p:nvSpPr>
        <p:spPr>
          <a:xfrm>
            <a:off x="457200" y="4800600"/>
            <a:ext cx="4572000" cy="228600"/>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OCI Naming Standard  ·  cmr</a:t>
            </a:r>
            <a:endParaRPr lang="en-US" sz="900" dirty="0"/>
          </a:p>
        </p:txBody>
      </p:sp>
      <p:sp>
        <p:nvSpPr>
          <p:cNvPr id="23" name="Text 21"/>
          <p:cNvSpPr txBox="1"/>
          <p:nvPr/>
        </p:nvSpPr>
        <p:spPr>
          <a:xfrm>
            <a:off x="8229600" y="4800600"/>
            <a:ext cx="457200" cy="228600"/>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4213D"/>
                </a:solidFill>
                <a:latin typeface="Calibri" pitchFamily="34" charset="0"/>
                <a:ea typeface="Calibri" pitchFamily="34" charset="-122"/>
                <a:cs typeface="Calibri" pitchFamily="34" charset="-120"/>
              </a:rPr>
              <a:t>Field 5: the application code</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300" dirty="0">
                <a:solidFill>
                  <a:srgbClr val="5B6B7F"/>
                </a:solidFill>
                <a:latin typeface="Calibri" pitchFamily="34" charset="0"/>
                <a:ea typeface="Calibri" pitchFamily="34" charset="-122"/>
                <a:cs typeface="Calibri" pitchFamily="34" charset="-120"/>
              </a:rPr>
              <a:t>Comes from the Application Register, never invented</a:t>
            </a:r>
            <a:endParaRPr lang="en-US" sz="1300" dirty="0"/>
          </a:p>
        </p:txBody>
      </p:sp>
      <p:sp>
        <p:nvSpPr>
          <p:cNvPr id="4" name="Shape 2"/>
          <p:cNvSpPr/>
          <p:nvPr/>
        </p:nvSpPr>
        <p:spPr>
          <a:xfrm>
            <a:off x="457200" y="1325880"/>
            <a:ext cx="4206240" cy="914400"/>
          </a:xfrm>
          <a:prstGeom prst="roundRect">
            <a:avLst>
              <a:gd name="adj" fmla="val 6000"/>
            </a:avLst>
          </a:prstGeom>
          <a:solidFill>
            <a:srgbClr val="F4F5F7"/>
          </a:solidFill>
          <a:ln w="12700">
            <a:solidFill>
              <a:srgbClr val="F4F5F7"/>
            </a:solidFill>
            <a:prstDash val="solid"/>
          </a:ln>
        </p:spPr>
      </p:sp>
      <p:sp>
        <p:nvSpPr>
          <p:cNvPr id="5" name="Shape 3"/>
          <p:cNvSpPr/>
          <p:nvPr/>
        </p:nvSpPr>
        <p:spPr>
          <a:xfrm>
            <a:off x="640080" y="1554480"/>
            <a:ext cx="822960" cy="457200"/>
          </a:xfrm>
          <a:prstGeom prst="roundRect">
            <a:avLst>
              <a:gd name="adj" fmla="val 16000"/>
            </a:avLst>
          </a:prstGeom>
          <a:solidFill>
            <a:srgbClr val="B7791F"/>
          </a:solidFill>
          <a:ln w="12700">
            <a:solidFill>
              <a:srgbClr val="B7791F"/>
            </a:solidFill>
            <a:prstDash val="solid"/>
          </a:ln>
        </p:spPr>
      </p:sp>
      <p:sp>
        <p:nvSpPr>
          <p:cNvPr id="6" name="Text 4"/>
          <p:cNvSpPr txBox="1"/>
          <p:nvPr/>
        </p:nvSpPr>
        <p:spPr>
          <a:xfrm>
            <a:off x="640080" y="1554480"/>
            <a:ext cx="82296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cbs</a:t>
            </a:r>
            <a:endParaRPr lang="en-US" sz="1600" dirty="0"/>
          </a:p>
        </p:txBody>
      </p:sp>
      <p:sp>
        <p:nvSpPr>
          <p:cNvPr id="7" name="Text 5"/>
          <p:cNvSpPr txBox="1"/>
          <p:nvPr/>
        </p:nvSpPr>
        <p:spPr>
          <a:xfrm>
            <a:off x="1645920" y="1435608"/>
            <a:ext cx="2926080" cy="320040"/>
          </a:xfrm>
          <a:prstGeom prst="rect">
            <a:avLst/>
          </a:prstGeom>
          <a:noFill/>
          <a:ln/>
        </p:spPr>
        <p:txBody>
          <a:bodyPr wrap="square" lIns="0" tIns="0" rIns="0" bIns="0"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Core Banking System</a:t>
            </a:r>
            <a:endParaRPr lang="en-US" sz="1500" dirty="0"/>
          </a:p>
        </p:txBody>
      </p:sp>
      <p:sp>
        <p:nvSpPr>
          <p:cNvPr id="8" name="Text 6"/>
          <p:cNvSpPr txBox="1"/>
          <p:nvPr/>
        </p:nvSpPr>
        <p:spPr>
          <a:xfrm>
            <a:off x="1645920" y="1801368"/>
            <a:ext cx="2926080" cy="274320"/>
          </a:xfrm>
          <a:prstGeom prst="rect">
            <a:avLst/>
          </a:prstGeom>
          <a:noFill/>
          <a:ln/>
        </p:spPr>
        <p:txBody>
          <a:bodyPr wrap="square" lIns="0" tIns="0" rIns="0" bIns="0" rtlCol="0" anchor="ctr"/>
          <a:lstStyle/>
          <a:p>
            <a:pPr marL="0" indent="0">
              <a:buNone/>
            </a:pPr>
            <a:r>
              <a:rPr lang="en-US" sz="1100" dirty="0">
                <a:solidFill>
                  <a:srgbClr val="1F2933"/>
                </a:solidFill>
                <a:latin typeface="Courier New" pitchFamily="34" charset="0"/>
                <a:ea typeface="Courier New" pitchFamily="34" charset="-122"/>
                <a:cs typeface="Courier New" pitchFamily="34" charset="-120"/>
              </a:rPr>
              <a:t>cmr-prd-cas-vm-cbs-ol-01</a:t>
            </a:r>
            <a:endParaRPr lang="en-US" sz="1100" dirty="0"/>
          </a:p>
        </p:txBody>
      </p:sp>
      <p:sp>
        <p:nvSpPr>
          <p:cNvPr id="9" name="Shape 7"/>
          <p:cNvSpPr/>
          <p:nvPr/>
        </p:nvSpPr>
        <p:spPr>
          <a:xfrm>
            <a:off x="457200" y="2423160"/>
            <a:ext cx="4206240" cy="914400"/>
          </a:xfrm>
          <a:prstGeom prst="roundRect">
            <a:avLst>
              <a:gd name="adj" fmla="val 6000"/>
            </a:avLst>
          </a:prstGeom>
          <a:solidFill>
            <a:srgbClr val="F4F5F7"/>
          </a:solidFill>
          <a:ln w="12700">
            <a:solidFill>
              <a:srgbClr val="F4F5F7"/>
            </a:solidFill>
            <a:prstDash val="solid"/>
          </a:ln>
        </p:spPr>
      </p:sp>
      <p:sp>
        <p:nvSpPr>
          <p:cNvPr id="10" name="Shape 8"/>
          <p:cNvSpPr/>
          <p:nvPr/>
        </p:nvSpPr>
        <p:spPr>
          <a:xfrm>
            <a:off x="640080" y="2651760"/>
            <a:ext cx="822960" cy="457200"/>
          </a:xfrm>
          <a:prstGeom prst="roundRect">
            <a:avLst>
              <a:gd name="adj" fmla="val 16000"/>
            </a:avLst>
          </a:prstGeom>
          <a:solidFill>
            <a:srgbClr val="B7791F"/>
          </a:solidFill>
          <a:ln w="12700">
            <a:solidFill>
              <a:srgbClr val="B7791F"/>
            </a:solidFill>
            <a:prstDash val="solid"/>
          </a:ln>
        </p:spPr>
      </p:sp>
      <p:sp>
        <p:nvSpPr>
          <p:cNvPr id="11" name="Text 9"/>
          <p:cNvSpPr txBox="1"/>
          <p:nvPr/>
        </p:nvSpPr>
        <p:spPr>
          <a:xfrm>
            <a:off x="640080" y="2651760"/>
            <a:ext cx="82296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pay</a:t>
            </a:r>
            <a:endParaRPr lang="en-US" sz="1600" dirty="0"/>
          </a:p>
        </p:txBody>
      </p:sp>
      <p:sp>
        <p:nvSpPr>
          <p:cNvPr id="12" name="Text 10"/>
          <p:cNvSpPr txBox="1"/>
          <p:nvPr/>
        </p:nvSpPr>
        <p:spPr>
          <a:xfrm>
            <a:off x="1645920" y="2532888"/>
            <a:ext cx="2926080" cy="320040"/>
          </a:xfrm>
          <a:prstGeom prst="rect">
            <a:avLst/>
          </a:prstGeom>
          <a:noFill/>
          <a:ln/>
        </p:spPr>
        <p:txBody>
          <a:bodyPr wrap="square" lIns="0" tIns="0" rIns="0" bIns="0"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Payments platform</a:t>
            </a:r>
            <a:endParaRPr lang="en-US" sz="1500" dirty="0"/>
          </a:p>
        </p:txBody>
      </p:sp>
      <p:sp>
        <p:nvSpPr>
          <p:cNvPr id="13" name="Text 11"/>
          <p:cNvSpPr txBox="1"/>
          <p:nvPr/>
        </p:nvSpPr>
        <p:spPr>
          <a:xfrm>
            <a:off x="1645920" y="2898648"/>
            <a:ext cx="2926080" cy="274320"/>
          </a:xfrm>
          <a:prstGeom prst="rect">
            <a:avLst/>
          </a:prstGeom>
          <a:noFill/>
          <a:ln/>
        </p:spPr>
        <p:txBody>
          <a:bodyPr wrap="square" lIns="0" tIns="0" rIns="0" bIns="0" rtlCol="0" anchor="ctr"/>
          <a:lstStyle/>
          <a:p>
            <a:pPr marL="0" indent="0">
              <a:buNone/>
            </a:pPr>
            <a:r>
              <a:rPr lang="en-US" sz="1100" dirty="0">
                <a:solidFill>
                  <a:srgbClr val="1F2933"/>
                </a:solidFill>
                <a:latin typeface="Courier New" pitchFamily="34" charset="0"/>
                <a:ea typeface="Courier New" pitchFamily="34" charset="-122"/>
                <a:cs typeface="Courier New" pitchFamily="34" charset="-120"/>
              </a:rPr>
              <a:t>cmr-hm2-cas-adb-pay-atp-01</a:t>
            </a:r>
            <a:endParaRPr lang="en-US" sz="1100" dirty="0"/>
          </a:p>
        </p:txBody>
      </p:sp>
      <p:sp>
        <p:nvSpPr>
          <p:cNvPr id="14" name="Text 12"/>
          <p:cNvSpPr txBox="1"/>
          <p:nvPr/>
        </p:nvSpPr>
        <p:spPr>
          <a:xfrm>
            <a:off x="5029200" y="1325880"/>
            <a:ext cx="3657600" cy="320040"/>
          </a:xfrm>
          <a:prstGeom prst="rect">
            <a:avLst/>
          </a:prstGeom>
          <a:noFill/>
          <a:ln/>
        </p:spPr>
        <p:txBody>
          <a:bodyPr wrap="square" lIns="0" tIns="0" rIns="0" bIns="0"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Rules for application codes</a:t>
            </a:r>
            <a:endParaRPr lang="en-US" sz="1500" dirty="0"/>
          </a:p>
        </p:txBody>
      </p:sp>
      <p:sp>
        <p:nvSpPr>
          <p:cNvPr id="15" name="Text 13"/>
          <p:cNvSpPr txBox="1"/>
          <p:nvPr/>
        </p:nvSpPr>
        <p:spPr>
          <a:xfrm>
            <a:off x="5029200" y="1691640"/>
            <a:ext cx="365760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3–5 lowercase letters or digits, starts with a letter</a:t>
            </a:r>
            <a:endParaRPr lang="en-US" sz="1300" dirty="0"/>
          </a:p>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Must not end with a digit</a:t>
            </a:r>
            <a:endParaRPr lang="en-US" sz="1300" dirty="0"/>
          </a:p>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Neutral abbreviation: no customer names, project codenames, vendor or person names</a:t>
            </a:r>
            <a:endParaRPr lang="en-US" sz="1300" dirty="0"/>
          </a:p>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Shared platforms use platform codes (hub, soc, kms, dbp…)</a:t>
            </a:r>
            <a:endParaRPr lang="en-US" sz="1300" dirty="0"/>
          </a:p>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Big application? Register a sub-code (e.g. cbsbt = core banking batch)</a:t>
            </a:r>
            <a:endParaRPr lang="en-US" sz="1300" dirty="0"/>
          </a:p>
        </p:txBody>
      </p:sp>
      <p:sp>
        <p:nvSpPr>
          <p:cNvPr id="16" name="Text 14"/>
          <p:cNvSpPr txBox="1"/>
          <p:nvPr/>
        </p:nvSpPr>
        <p:spPr>
          <a:xfrm>
            <a:off x="457200" y="4800600"/>
            <a:ext cx="4572000" cy="228600"/>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OCI Naming Standard  ·  cmr</a:t>
            </a:r>
            <a:endParaRPr lang="en-US" sz="900" dirty="0"/>
          </a:p>
        </p:txBody>
      </p:sp>
      <p:sp>
        <p:nvSpPr>
          <p:cNvPr id="17" name="Text 15"/>
          <p:cNvSpPr txBox="1"/>
          <p:nvPr/>
        </p:nvSpPr>
        <p:spPr>
          <a:xfrm>
            <a:off x="8229600" y="4800600"/>
            <a:ext cx="457200" cy="228600"/>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4213D"/>
                </a:solidFill>
                <a:latin typeface="Calibri" pitchFamily="34" charset="0"/>
                <a:ea typeface="Calibri" pitchFamily="34" charset="-122"/>
                <a:cs typeface="Calibri" pitchFamily="34" charset="-120"/>
              </a:rPr>
              <a:t>Field 6: the qualifier</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300" dirty="0">
                <a:solidFill>
                  <a:srgbClr val="5B6B7F"/>
                </a:solidFill>
                <a:latin typeface="Calibri" pitchFamily="34" charset="0"/>
                <a:ea typeface="Calibri" pitchFamily="34" charset="-122"/>
                <a:cs typeface="Calibri" pitchFamily="34" charset="-120"/>
              </a:rPr>
              <a:t>Required for some resource types, not allowed for all others</a:t>
            </a:r>
            <a:endParaRPr lang="en-US" sz="1300" dirty="0"/>
          </a:p>
        </p:txBody>
      </p:sp>
      <p:sp>
        <p:nvSpPr>
          <p:cNvPr id="4" name="Shape 2"/>
          <p:cNvSpPr/>
          <p:nvPr/>
        </p:nvSpPr>
        <p:spPr>
          <a:xfrm>
            <a:off x="457200" y="1325880"/>
            <a:ext cx="2560320" cy="1417320"/>
          </a:xfrm>
          <a:prstGeom prst="roundRect">
            <a:avLst>
              <a:gd name="adj" fmla="val 3871"/>
            </a:avLst>
          </a:prstGeom>
          <a:solidFill>
            <a:srgbClr val="F4F5F7"/>
          </a:solidFill>
          <a:ln w="12700">
            <a:solidFill>
              <a:srgbClr val="F4F5F7"/>
            </a:solidFill>
            <a:prstDash val="solid"/>
          </a:ln>
        </p:spPr>
      </p:sp>
      <p:sp>
        <p:nvSpPr>
          <p:cNvPr id="5" name="Shape 3"/>
          <p:cNvSpPr/>
          <p:nvPr/>
        </p:nvSpPr>
        <p:spPr>
          <a:xfrm>
            <a:off x="640080" y="1463040"/>
            <a:ext cx="457200" cy="457200"/>
          </a:xfrm>
          <a:prstGeom prst="ellipse">
            <a:avLst/>
          </a:prstGeom>
          <a:solidFill>
            <a:srgbClr val="3A7D44"/>
          </a:solidFill>
          <a:ln w="12700">
            <a:solidFill>
              <a:srgbClr val="3A7D44"/>
            </a:solidFill>
            <a:prstDash val="solid"/>
          </a:ln>
        </p:spPr>
      </p:sp>
      <p:sp>
        <p:nvSpPr>
          <p:cNvPr id="6" name="Text 4"/>
          <p:cNvSpPr txBox="1"/>
          <p:nvPr/>
        </p:nvSpPr>
        <p:spPr>
          <a:xfrm>
            <a:off x="64008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234440" y="1481328"/>
            <a:ext cx="1645920" cy="411480"/>
          </a:xfrm>
          <a:prstGeom prst="rect">
            <a:avLst/>
          </a:prstGeom>
          <a:noFill/>
          <a:ln/>
        </p:spPr>
        <p:txBody>
          <a:bodyPr wrap="square" lIns="0" tIns="0" rIns="0" bIns="0"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Find the type</a:t>
            </a:r>
            <a:endParaRPr lang="en-US" sz="1500" dirty="0"/>
          </a:p>
        </p:txBody>
      </p:sp>
      <p:sp>
        <p:nvSpPr>
          <p:cNvPr id="8" name="Text 6"/>
          <p:cNvSpPr txBox="1"/>
          <p:nvPr/>
        </p:nvSpPr>
        <p:spPr>
          <a:xfrm>
            <a:off x="640080" y="2011680"/>
            <a:ext cx="2240280" cy="640080"/>
          </a:xfrm>
          <a:prstGeom prst="rect">
            <a:avLst/>
          </a:prstGeom>
          <a:noFill/>
          <a:ln/>
        </p:spPr>
        <p:txBody>
          <a:bodyPr wrap="square" lIns="0" tIns="0" rIns="0" bIns="0" rtlCol="0" anchor="t"/>
          <a:lstStyle/>
          <a:p>
            <a:pPr marL="0" indent="0">
              <a:buNone/>
            </a:pPr>
            <a:r>
              <a:rPr lang="en-US" sz="1200" dirty="0">
                <a:solidFill>
                  <a:srgbClr val="1F2933"/>
                </a:solidFill>
                <a:latin typeface="Calibri" pitchFamily="34" charset="0"/>
                <a:ea typeface="Calibri" pitchFamily="34" charset="-122"/>
                <a:cs typeface="Calibri" pitchFamily="34" charset="-120"/>
              </a:rPr>
              <a:t>Is it in the "Qualifier Codes" list?</a:t>
            </a:r>
            <a:endParaRPr lang="en-US" sz="1200" dirty="0"/>
          </a:p>
        </p:txBody>
      </p:sp>
      <p:sp>
        <p:nvSpPr>
          <p:cNvPr id="9" name="Text 7"/>
          <p:cNvSpPr txBox="1"/>
          <p:nvPr/>
        </p:nvSpPr>
        <p:spPr>
          <a:xfrm>
            <a:off x="3017520" y="1783080"/>
            <a:ext cx="274320" cy="365760"/>
          </a:xfrm>
          <a:prstGeom prst="rect">
            <a:avLst/>
          </a:prstGeom>
          <a:noFill/>
          <a:ln/>
        </p:spPr>
        <p:txBody>
          <a:bodyPr wrap="square" lIns="0" tIns="0" rIns="0" bIns="0" rtlCol="0" anchor="ctr"/>
          <a:lstStyle/>
          <a:p>
            <a:pPr marL="0" indent="0" algn="ctr">
              <a:buNone/>
            </a:pPr>
            <a:r>
              <a:rPr lang="en-US" sz="2000" b="1" dirty="0">
                <a:solidFill>
                  <a:srgbClr val="3A7D44"/>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3291840" y="1325880"/>
            <a:ext cx="2560320" cy="1417320"/>
          </a:xfrm>
          <a:prstGeom prst="roundRect">
            <a:avLst>
              <a:gd name="adj" fmla="val 3871"/>
            </a:avLst>
          </a:prstGeom>
          <a:solidFill>
            <a:srgbClr val="F4F5F7"/>
          </a:solidFill>
          <a:ln w="12700">
            <a:solidFill>
              <a:srgbClr val="F4F5F7"/>
            </a:solidFill>
            <a:prstDash val="solid"/>
          </a:ln>
        </p:spPr>
      </p:sp>
      <p:sp>
        <p:nvSpPr>
          <p:cNvPr id="11" name="Shape 9"/>
          <p:cNvSpPr/>
          <p:nvPr/>
        </p:nvSpPr>
        <p:spPr>
          <a:xfrm>
            <a:off x="3474720" y="1463040"/>
            <a:ext cx="457200" cy="457200"/>
          </a:xfrm>
          <a:prstGeom prst="ellipse">
            <a:avLst/>
          </a:prstGeom>
          <a:solidFill>
            <a:srgbClr val="3A7D44"/>
          </a:solidFill>
          <a:ln w="12700">
            <a:solidFill>
              <a:srgbClr val="3A7D44"/>
            </a:solidFill>
            <a:prstDash val="solid"/>
          </a:ln>
        </p:spPr>
      </p:sp>
      <p:sp>
        <p:nvSpPr>
          <p:cNvPr id="12" name="Text 10"/>
          <p:cNvSpPr txBox="1"/>
          <p:nvPr/>
        </p:nvSpPr>
        <p:spPr>
          <a:xfrm>
            <a:off x="347472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4069080" y="1481328"/>
            <a:ext cx="1645920" cy="411480"/>
          </a:xfrm>
          <a:prstGeom prst="rect">
            <a:avLst/>
          </a:prstGeom>
          <a:noFill/>
          <a:ln/>
        </p:spPr>
        <p:txBody>
          <a:bodyPr wrap="square" lIns="0" tIns="0" rIns="0" bIns="0"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Required?</a:t>
            </a:r>
            <a:endParaRPr lang="en-US" sz="1500" dirty="0"/>
          </a:p>
        </p:txBody>
      </p:sp>
      <p:sp>
        <p:nvSpPr>
          <p:cNvPr id="14" name="Text 12"/>
          <p:cNvSpPr txBox="1"/>
          <p:nvPr/>
        </p:nvSpPr>
        <p:spPr>
          <a:xfrm>
            <a:off x="3474720" y="2011680"/>
            <a:ext cx="2240280" cy="640080"/>
          </a:xfrm>
          <a:prstGeom prst="rect">
            <a:avLst/>
          </a:prstGeom>
          <a:noFill/>
          <a:ln/>
        </p:spPr>
        <p:txBody>
          <a:bodyPr wrap="square" lIns="0" tIns="0" rIns="0" bIns="0" rtlCol="0" anchor="t"/>
          <a:lstStyle/>
          <a:p>
            <a:pPr marL="0" indent="0">
              <a:buNone/>
            </a:pPr>
            <a:r>
              <a:rPr lang="en-US" sz="1200" dirty="0">
                <a:solidFill>
                  <a:srgbClr val="1F2933"/>
                </a:solidFill>
                <a:latin typeface="Calibri" pitchFamily="34" charset="0"/>
                <a:ea typeface="Calibri" pitchFamily="34" charset="-122"/>
                <a:cs typeface="Calibri" pitchFamily="34" charset="-120"/>
              </a:rPr>
              <a:t>Yes → add one code. No → leave it out.</a:t>
            </a:r>
            <a:endParaRPr lang="en-US" sz="1200" dirty="0"/>
          </a:p>
        </p:txBody>
      </p:sp>
      <p:sp>
        <p:nvSpPr>
          <p:cNvPr id="15" name="Text 13"/>
          <p:cNvSpPr txBox="1"/>
          <p:nvPr/>
        </p:nvSpPr>
        <p:spPr>
          <a:xfrm>
            <a:off x="5852160" y="1783080"/>
            <a:ext cx="274320" cy="365760"/>
          </a:xfrm>
          <a:prstGeom prst="rect">
            <a:avLst/>
          </a:prstGeom>
          <a:noFill/>
          <a:ln/>
        </p:spPr>
        <p:txBody>
          <a:bodyPr wrap="square" lIns="0" tIns="0" rIns="0" bIns="0" rtlCol="0" anchor="ctr"/>
          <a:lstStyle/>
          <a:p>
            <a:pPr marL="0" indent="0" algn="ctr">
              <a:buNone/>
            </a:pPr>
            <a:r>
              <a:rPr lang="en-US" sz="2000" b="1" dirty="0">
                <a:solidFill>
                  <a:srgbClr val="3A7D44"/>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126480" y="1325880"/>
            <a:ext cx="2560320" cy="1417320"/>
          </a:xfrm>
          <a:prstGeom prst="roundRect">
            <a:avLst>
              <a:gd name="adj" fmla="val 3871"/>
            </a:avLst>
          </a:prstGeom>
          <a:solidFill>
            <a:srgbClr val="F4F5F7"/>
          </a:solidFill>
          <a:ln w="12700">
            <a:solidFill>
              <a:srgbClr val="F4F5F7"/>
            </a:solidFill>
            <a:prstDash val="solid"/>
          </a:ln>
        </p:spPr>
      </p:sp>
      <p:sp>
        <p:nvSpPr>
          <p:cNvPr id="17" name="Shape 15"/>
          <p:cNvSpPr/>
          <p:nvPr/>
        </p:nvSpPr>
        <p:spPr>
          <a:xfrm>
            <a:off x="6309360" y="1463040"/>
            <a:ext cx="457200" cy="457200"/>
          </a:xfrm>
          <a:prstGeom prst="ellipse">
            <a:avLst/>
          </a:prstGeom>
          <a:solidFill>
            <a:srgbClr val="3A7D44"/>
          </a:solidFill>
          <a:ln w="12700">
            <a:solidFill>
              <a:srgbClr val="3A7D44"/>
            </a:solidFill>
            <a:prstDash val="solid"/>
          </a:ln>
        </p:spPr>
      </p:sp>
      <p:sp>
        <p:nvSpPr>
          <p:cNvPr id="18" name="Text 16"/>
          <p:cNvSpPr txBox="1"/>
          <p:nvPr/>
        </p:nvSpPr>
        <p:spPr>
          <a:xfrm>
            <a:off x="630936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6903720" y="1481328"/>
            <a:ext cx="1645920" cy="411480"/>
          </a:xfrm>
          <a:prstGeom prst="rect">
            <a:avLst/>
          </a:prstGeom>
          <a:noFill/>
          <a:ln/>
        </p:spPr>
        <p:txBody>
          <a:bodyPr wrap="square" lIns="0" tIns="0" rIns="0" bIns="0"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Pick one code</a:t>
            </a:r>
            <a:endParaRPr lang="en-US" sz="1500" dirty="0"/>
          </a:p>
        </p:txBody>
      </p:sp>
      <p:sp>
        <p:nvSpPr>
          <p:cNvPr id="20" name="Text 18"/>
          <p:cNvSpPr txBox="1"/>
          <p:nvPr/>
        </p:nvSpPr>
        <p:spPr>
          <a:xfrm>
            <a:off x="6309360" y="2011680"/>
            <a:ext cx="2240280" cy="640080"/>
          </a:xfrm>
          <a:prstGeom prst="rect">
            <a:avLst/>
          </a:prstGeom>
          <a:noFill/>
          <a:ln/>
        </p:spPr>
        <p:txBody>
          <a:bodyPr wrap="square" lIns="0" tIns="0" rIns="0" bIns="0" rtlCol="0" anchor="t"/>
          <a:lstStyle/>
          <a:p>
            <a:pPr marL="0" indent="0">
              <a:buNone/>
            </a:pPr>
            <a:r>
              <a:rPr lang="en-US" sz="1200" dirty="0">
                <a:solidFill>
                  <a:srgbClr val="1F2933"/>
                </a:solidFill>
                <a:latin typeface="Calibri" pitchFamily="34" charset="0"/>
                <a:ea typeface="Calibri" pitchFamily="34" charset="-122"/>
                <a:cs typeface="Calibri" pitchFamily="34" charset="-120"/>
              </a:rPr>
              <a:t>Only from the list for that type. Never type your own.</a:t>
            </a:r>
            <a:endParaRPr lang="en-US" sz="1200" dirty="0"/>
          </a:p>
        </p:txBody>
      </p:sp>
      <p:sp>
        <p:nvSpPr>
          <p:cNvPr id="21" name="Shape 19"/>
          <p:cNvSpPr/>
          <p:nvPr/>
        </p:nvSpPr>
        <p:spPr>
          <a:xfrm>
            <a:off x="457200" y="3017520"/>
            <a:ext cx="4023360" cy="1371600"/>
          </a:xfrm>
          <a:prstGeom prst="roundRect">
            <a:avLst>
              <a:gd name="adj" fmla="val 4000"/>
            </a:avLst>
          </a:prstGeom>
          <a:solidFill>
            <a:srgbClr val="E7F1E8"/>
          </a:solidFill>
          <a:ln w="12700">
            <a:solidFill>
              <a:srgbClr val="E7F1E8"/>
            </a:solidFill>
            <a:prstDash val="solid"/>
          </a:ln>
        </p:spPr>
      </p:sp>
      <p:sp>
        <p:nvSpPr>
          <p:cNvPr id="22" name="Text 20"/>
          <p:cNvSpPr txBox="1"/>
          <p:nvPr/>
        </p:nvSpPr>
        <p:spPr>
          <a:xfrm>
            <a:off x="640080" y="3108960"/>
            <a:ext cx="3657600" cy="274320"/>
          </a:xfrm>
          <a:prstGeom prst="rect">
            <a:avLst/>
          </a:prstGeom>
          <a:noFill/>
          <a:ln/>
        </p:spPr>
        <p:txBody>
          <a:bodyPr wrap="square" lIns="0" tIns="0" rIns="0" bIns="0" rtlCol="0" anchor="ctr"/>
          <a:lstStyle/>
          <a:p>
            <a:pPr marL="0" indent="0">
              <a:buNone/>
            </a:pPr>
            <a:r>
              <a:rPr lang="en-US" sz="1300" b="1" dirty="0">
                <a:solidFill>
                  <a:srgbClr val="3A7D44"/>
                </a:solidFill>
                <a:latin typeface="Calibri" pitchFamily="34" charset="0"/>
                <a:ea typeface="Calibri" pitchFamily="34" charset="-122"/>
                <a:cs typeface="Calibri" pitchFamily="34" charset="-120"/>
              </a:rPr>
              <a:t>With qualifier (required)</a:t>
            </a:r>
            <a:endParaRPr lang="en-US" sz="1300" dirty="0"/>
          </a:p>
        </p:txBody>
      </p:sp>
      <p:sp>
        <p:nvSpPr>
          <p:cNvPr id="23" name="Text 21"/>
          <p:cNvSpPr txBox="1"/>
          <p:nvPr/>
        </p:nvSpPr>
        <p:spPr>
          <a:xfrm>
            <a:off x="640080" y="3429000"/>
            <a:ext cx="3657600" cy="868680"/>
          </a:xfrm>
          <a:prstGeom prst="rect">
            <a:avLst/>
          </a:prstGeom>
          <a:noFill/>
          <a:ln/>
        </p:spPr>
        <p:txBody>
          <a:bodyPr wrap="square" lIns="0" tIns="0" rIns="0" bIns="0" rtlCol="0" anchor="t"/>
          <a:lstStyle/>
          <a:p>
            <a:pPr marL="0" indent="0">
              <a:buNone/>
            </a:pPr>
            <a:r>
              <a:rPr lang="en-US" sz="1200" dirty="0">
                <a:solidFill>
                  <a:srgbClr val="1F2933"/>
                </a:solidFill>
                <a:latin typeface="Courier New" pitchFamily="34" charset="0"/>
                <a:ea typeface="Courier New" pitchFamily="34" charset="-122"/>
                <a:cs typeface="Courier New" pitchFamily="34" charset="-120"/>
              </a:rPr>
              <a:t>cmr-prd-cas-vm-cbs-ol-01</a:t>
            </a:r>
            <a:endParaRPr lang="en-US" sz="1200" dirty="0"/>
          </a:p>
          <a:p>
            <a:pPr marL="0" indent="0">
              <a:buNone/>
            </a:pPr>
            <a:r>
              <a:rPr lang="en-US" sz="1200" dirty="0">
                <a:solidFill>
                  <a:srgbClr val="1F2933"/>
                </a:solidFill>
                <a:latin typeface="Courier New" pitchFamily="34" charset="0"/>
                <a:ea typeface="Courier New" pitchFamily="34" charset="-122"/>
                <a:cs typeface="Courier New" pitchFamily="34" charset="-120"/>
              </a:rPr>
              <a:t>cmr-prd-cas-snt-cbs-db-01</a:t>
            </a:r>
            <a:endParaRPr lang="en-US" sz="1200" dirty="0"/>
          </a:p>
          <a:p>
            <a:pPr marL="0" indent="0">
              <a:buNone/>
            </a:pPr>
            <a:r>
              <a:rPr lang="en-US" sz="1200" dirty="0">
                <a:solidFill>
                  <a:srgbClr val="1F2933"/>
                </a:solidFill>
                <a:latin typeface="Courier New" pitchFamily="34" charset="0"/>
                <a:ea typeface="Courier New" pitchFamily="34" charset="-122"/>
                <a:cs typeface="Courier New" pitchFamily="34" charset="-120"/>
              </a:rPr>
              <a:t>cmr-prd-cas-lb-cbs-ext-01</a:t>
            </a:r>
            <a:endParaRPr lang="en-US" sz="1200" dirty="0"/>
          </a:p>
        </p:txBody>
      </p:sp>
      <p:sp>
        <p:nvSpPr>
          <p:cNvPr id="24" name="Shape 22"/>
          <p:cNvSpPr/>
          <p:nvPr/>
        </p:nvSpPr>
        <p:spPr>
          <a:xfrm>
            <a:off x="4663440" y="3017520"/>
            <a:ext cx="4023360" cy="1371600"/>
          </a:xfrm>
          <a:prstGeom prst="roundRect">
            <a:avLst>
              <a:gd name="adj" fmla="val 4000"/>
            </a:avLst>
          </a:prstGeom>
          <a:solidFill>
            <a:srgbClr val="F4F5F7"/>
          </a:solidFill>
          <a:ln w="12700">
            <a:solidFill>
              <a:srgbClr val="F4F5F7"/>
            </a:solidFill>
            <a:prstDash val="solid"/>
          </a:ln>
        </p:spPr>
      </p:sp>
      <p:sp>
        <p:nvSpPr>
          <p:cNvPr id="25" name="Text 23"/>
          <p:cNvSpPr txBox="1"/>
          <p:nvPr/>
        </p:nvSpPr>
        <p:spPr>
          <a:xfrm>
            <a:off x="4846320" y="3108960"/>
            <a:ext cx="3657600" cy="274320"/>
          </a:xfrm>
          <a:prstGeom prst="rect">
            <a:avLst/>
          </a:prstGeom>
          <a:noFill/>
          <a:ln/>
        </p:spPr>
        <p:txBody>
          <a:bodyPr wrap="square" lIns="0" tIns="0" rIns="0" bIns="0" rtlCol="0" anchor="ctr"/>
          <a:lstStyle/>
          <a:p>
            <a:pPr marL="0" indent="0">
              <a:buNone/>
            </a:pPr>
            <a:r>
              <a:rPr lang="en-US" sz="1300" b="1" dirty="0">
                <a:solidFill>
                  <a:srgbClr val="5B6B7F"/>
                </a:solidFill>
                <a:latin typeface="Calibri" pitchFamily="34" charset="0"/>
                <a:ea typeface="Calibri" pitchFamily="34" charset="-122"/>
                <a:cs typeface="Calibri" pitchFamily="34" charset="-120"/>
              </a:rPr>
              <a:t>Without qualifier (none)</a:t>
            </a:r>
            <a:endParaRPr lang="en-US" sz="1300" dirty="0"/>
          </a:p>
        </p:txBody>
      </p:sp>
      <p:sp>
        <p:nvSpPr>
          <p:cNvPr id="26" name="Text 24"/>
          <p:cNvSpPr txBox="1"/>
          <p:nvPr/>
        </p:nvSpPr>
        <p:spPr>
          <a:xfrm>
            <a:off x="4846320" y="3429000"/>
            <a:ext cx="3657600" cy="868680"/>
          </a:xfrm>
          <a:prstGeom prst="rect">
            <a:avLst/>
          </a:prstGeom>
          <a:noFill/>
          <a:ln/>
        </p:spPr>
        <p:txBody>
          <a:bodyPr wrap="square" lIns="0" tIns="0" rIns="0" bIns="0" rtlCol="0" anchor="t"/>
          <a:lstStyle/>
          <a:p>
            <a:pPr marL="0" indent="0">
              <a:buNone/>
            </a:pPr>
            <a:r>
              <a:rPr lang="en-US" sz="1200" dirty="0">
                <a:solidFill>
                  <a:srgbClr val="1F2933"/>
                </a:solidFill>
                <a:latin typeface="Courier New" pitchFamily="34" charset="0"/>
                <a:ea typeface="Courier New" pitchFamily="34" charset="-122"/>
                <a:cs typeface="Courier New" pitchFamily="34" charset="-120"/>
              </a:rPr>
              <a:t>cmr-prd-cas-vcn-cbs-01</a:t>
            </a:r>
            <a:endParaRPr lang="en-US" sz="1200" dirty="0"/>
          </a:p>
          <a:p>
            <a:pPr marL="0" indent="0">
              <a:buNone/>
            </a:pPr>
            <a:r>
              <a:rPr lang="en-US" sz="1200" dirty="0">
                <a:solidFill>
                  <a:srgbClr val="1F2933"/>
                </a:solidFill>
                <a:latin typeface="Courier New" pitchFamily="34" charset="0"/>
                <a:ea typeface="Courier New" pitchFamily="34" charset="-122"/>
                <a:cs typeface="Courier New" pitchFamily="34" charset="-120"/>
              </a:rPr>
              <a:t>cmr-prd-cas-vlt-kms-01</a:t>
            </a:r>
            <a:endParaRPr lang="en-US" sz="1200" dirty="0"/>
          </a:p>
          <a:p>
            <a:pPr marL="0" indent="0">
              <a:buNone/>
            </a:pPr>
            <a:r>
              <a:rPr lang="en-US" sz="1200" dirty="0">
                <a:solidFill>
                  <a:srgbClr val="1F2933"/>
                </a:solidFill>
                <a:latin typeface="Courier New" pitchFamily="34" charset="0"/>
                <a:ea typeface="Courier New" pitchFamily="34" charset="-122"/>
                <a:cs typeface="Courier New" pitchFamily="34" charset="-120"/>
              </a:rPr>
              <a:t>cmr-prd-cas-oke-pay-01</a:t>
            </a:r>
            <a:endParaRPr lang="en-US" sz="1200" dirty="0"/>
          </a:p>
        </p:txBody>
      </p:sp>
      <p:sp>
        <p:nvSpPr>
          <p:cNvPr id="27" name="Text 25"/>
          <p:cNvSpPr txBox="1"/>
          <p:nvPr/>
        </p:nvSpPr>
        <p:spPr>
          <a:xfrm>
            <a:off x="457200" y="4800600"/>
            <a:ext cx="4572000" cy="228600"/>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OCI Naming Standard  ·  cmr</a:t>
            </a:r>
            <a:endParaRPr lang="en-US" sz="900" dirty="0"/>
          </a:p>
        </p:txBody>
      </p:sp>
      <p:sp>
        <p:nvSpPr>
          <p:cNvPr id="28" name="Text 26"/>
          <p:cNvSpPr txBox="1"/>
          <p:nvPr/>
        </p:nvSpPr>
        <p:spPr>
          <a:xfrm>
            <a:off x="8229600" y="4800600"/>
            <a:ext cx="457200" cy="228600"/>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4213D"/>
                </a:solidFill>
                <a:latin typeface="Calibri" pitchFamily="34" charset="0"/>
                <a:ea typeface="Calibri" pitchFamily="34" charset="-122"/>
                <a:cs typeface="Calibri" pitchFamily="34" charset="-120"/>
              </a:rPr>
              <a:t>The qualifier codes you will use most</a:t>
            </a:r>
            <a:endParaRPr lang="en-US" sz="2800" dirty="0"/>
          </a:p>
        </p:txBody>
      </p:sp>
      <p:sp>
        <p:nvSpPr>
          <p:cNvPr id="3" name="Shape 1"/>
          <p:cNvSpPr/>
          <p:nvPr/>
        </p:nvSpPr>
        <p:spPr>
          <a:xfrm>
            <a:off x="457200" y="1097280"/>
            <a:ext cx="4023360" cy="749808"/>
          </a:xfrm>
          <a:prstGeom prst="roundRect">
            <a:avLst>
              <a:gd name="adj" fmla="val 7317"/>
            </a:avLst>
          </a:prstGeom>
          <a:solidFill>
            <a:srgbClr val="F4F5F7"/>
          </a:solidFill>
          <a:ln w="12700">
            <a:solidFill>
              <a:srgbClr val="F4F5F7"/>
            </a:solidFill>
            <a:prstDash val="solid"/>
          </a:ln>
        </p:spPr>
      </p:sp>
      <p:sp>
        <p:nvSpPr>
          <p:cNvPr id="4" name="Text 2"/>
          <p:cNvSpPr txBox="1"/>
          <p:nvPr/>
        </p:nvSpPr>
        <p:spPr>
          <a:xfrm>
            <a:off x="594360" y="1170432"/>
            <a:ext cx="1325880" cy="274320"/>
          </a:xfrm>
          <a:prstGeom prst="rect">
            <a:avLst/>
          </a:prstGeom>
          <a:noFill/>
          <a:ln/>
        </p:spPr>
        <p:txBody>
          <a:bodyPr wrap="square" lIns="0" tIns="0" rIns="0" bIns="0" rtlCol="0" anchor="ctr"/>
          <a:lstStyle/>
          <a:p>
            <a:pPr marL="0" indent="0">
              <a:buNone/>
            </a:pPr>
            <a:r>
              <a:rPr lang="en-US" sz="1100" b="1" dirty="0">
                <a:solidFill>
                  <a:srgbClr val="C74634"/>
                </a:solidFill>
                <a:latin typeface="Courier New" pitchFamily="34" charset="0"/>
                <a:ea typeface="Courier New" pitchFamily="34" charset="-122"/>
                <a:cs typeface="Courier New" pitchFamily="34" charset="-120"/>
              </a:rPr>
              <a:t>vm bm ipl icf</a:t>
            </a:r>
            <a:endParaRPr lang="en-US" sz="1100" dirty="0"/>
          </a:p>
        </p:txBody>
      </p:sp>
      <p:sp>
        <p:nvSpPr>
          <p:cNvPr id="5" name="Text 3"/>
          <p:cNvSpPr txBox="1"/>
          <p:nvPr/>
        </p:nvSpPr>
        <p:spPr>
          <a:xfrm>
            <a:off x="1965960" y="1170432"/>
            <a:ext cx="2377440" cy="274320"/>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OS family</a:t>
            </a:r>
            <a:endParaRPr lang="en-US" sz="1200" dirty="0"/>
          </a:p>
        </p:txBody>
      </p:sp>
      <p:sp>
        <p:nvSpPr>
          <p:cNvPr id="6" name="Text 4"/>
          <p:cNvSpPr txBox="1"/>
          <p:nvPr/>
        </p:nvSpPr>
        <p:spPr>
          <a:xfrm>
            <a:off x="594360" y="1481328"/>
            <a:ext cx="3749040" cy="320040"/>
          </a:xfrm>
          <a:prstGeom prst="rect">
            <a:avLst/>
          </a:prstGeom>
          <a:noFill/>
          <a:ln/>
        </p:spPr>
        <p:txBody>
          <a:bodyPr wrap="square" lIns="0" tIns="0" rIns="0" bIns="0" rtlCol="0" anchor="ctr"/>
          <a:lstStyle/>
          <a:p>
            <a:pPr marL="0" indent="0">
              <a:buNone/>
            </a:pPr>
            <a:r>
              <a:rPr lang="en-US" sz="1100" dirty="0">
                <a:solidFill>
                  <a:srgbClr val="3A7D44"/>
                </a:solidFill>
                <a:latin typeface="Courier New" pitchFamily="34" charset="0"/>
                <a:ea typeface="Courier New" pitchFamily="34" charset="-122"/>
                <a:cs typeface="Courier New" pitchFamily="34" charset="-120"/>
              </a:rPr>
              <a:t>ol  rhel  win  ubu</a:t>
            </a:r>
            <a:endParaRPr lang="en-US" sz="1100" dirty="0"/>
          </a:p>
        </p:txBody>
      </p:sp>
      <p:sp>
        <p:nvSpPr>
          <p:cNvPr id="7" name="Shape 5"/>
          <p:cNvSpPr/>
          <p:nvPr/>
        </p:nvSpPr>
        <p:spPr>
          <a:xfrm>
            <a:off x="4663440" y="1097280"/>
            <a:ext cx="4023360" cy="749808"/>
          </a:xfrm>
          <a:prstGeom prst="roundRect">
            <a:avLst>
              <a:gd name="adj" fmla="val 7317"/>
            </a:avLst>
          </a:prstGeom>
          <a:solidFill>
            <a:srgbClr val="F4F5F7"/>
          </a:solidFill>
          <a:ln w="12700">
            <a:solidFill>
              <a:srgbClr val="F4F5F7"/>
            </a:solidFill>
            <a:prstDash val="solid"/>
          </a:ln>
        </p:spPr>
      </p:sp>
      <p:sp>
        <p:nvSpPr>
          <p:cNvPr id="8" name="Text 6"/>
          <p:cNvSpPr txBox="1"/>
          <p:nvPr/>
        </p:nvSpPr>
        <p:spPr>
          <a:xfrm>
            <a:off x="4800600" y="1170432"/>
            <a:ext cx="1325880" cy="274320"/>
          </a:xfrm>
          <a:prstGeom prst="rect">
            <a:avLst/>
          </a:prstGeom>
          <a:noFill/>
          <a:ln/>
        </p:spPr>
        <p:txBody>
          <a:bodyPr wrap="square" lIns="0" tIns="0" rIns="0" bIns="0" rtlCol="0" anchor="ctr"/>
          <a:lstStyle/>
          <a:p>
            <a:pPr marL="0" indent="0">
              <a:buNone/>
            </a:pPr>
            <a:r>
              <a:rPr lang="en-US" sz="1100" b="1" dirty="0">
                <a:solidFill>
                  <a:srgbClr val="C74634"/>
                </a:solidFill>
                <a:latin typeface="Courier New" pitchFamily="34" charset="0"/>
                <a:ea typeface="Courier New" pitchFamily="34" charset="-122"/>
                <a:cs typeface="Courier New" pitchFamily="34" charset="-120"/>
              </a:rPr>
              <a:t>snt nsg scl rtb</a:t>
            </a:r>
            <a:endParaRPr lang="en-US" sz="1100" dirty="0"/>
          </a:p>
        </p:txBody>
      </p:sp>
      <p:sp>
        <p:nvSpPr>
          <p:cNvPr id="9" name="Text 7"/>
          <p:cNvSpPr txBox="1"/>
          <p:nvPr/>
        </p:nvSpPr>
        <p:spPr>
          <a:xfrm>
            <a:off x="6172200" y="1170432"/>
            <a:ext cx="2377440" cy="274320"/>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Network tier</a:t>
            </a:r>
            <a:endParaRPr lang="en-US" sz="1200" dirty="0"/>
          </a:p>
        </p:txBody>
      </p:sp>
      <p:sp>
        <p:nvSpPr>
          <p:cNvPr id="10" name="Text 8"/>
          <p:cNvSpPr txBox="1"/>
          <p:nvPr/>
        </p:nvSpPr>
        <p:spPr>
          <a:xfrm>
            <a:off x="4800600" y="1481328"/>
            <a:ext cx="3749040" cy="320040"/>
          </a:xfrm>
          <a:prstGeom prst="rect">
            <a:avLst/>
          </a:prstGeom>
          <a:noFill/>
          <a:ln/>
        </p:spPr>
        <p:txBody>
          <a:bodyPr wrap="square" lIns="0" tIns="0" rIns="0" bIns="0" rtlCol="0" anchor="ctr"/>
          <a:lstStyle/>
          <a:p>
            <a:pPr marL="0" indent="0">
              <a:buNone/>
            </a:pPr>
            <a:r>
              <a:rPr lang="en-US" sz="1100" dirty="0">
                <a:solidFill>
                  <a:srgbClr val="3A7D44"/>
                </a:solidFill>
                <a:latin typeface="Courier New" pitchFamily="34" charset="0"/>
                <a:ea typeface="Courier New" pitchFamily="34" charset="-122"/>
                <a:cs typeface="Courier New" pitchFamily="34" charset="-120"/>
              </a:rPr>
              <a:t>dmz lb web app db wrk kapi pod mgmt pe fw itg</a:t>
            </a:r>
            <a:endParaRPr lang="en-US" sz="1100" dirty="0"/>
          </a:p>
        </p:txBody>
      </p:sp>
      <p:sp>
        <p:nvSpPr>
          <p:cNvPr id="11" name="Shape 9"/>
          <p:cNvSpPr/>
          <p:nvPr/>
        </p:nvSpPr>
        <p:spPr>
          <a:xfrm>
            <a:off x="457200" y="1965960"/>
            <a:ext cx="4023360" cy="749808"/>
          </a:xfrm>
          <a:prstGeom prst="roundRect">
            <a:avLst>
              <a:gd name="adj" fmla="val 7317"/>
            </a:avLst>
          </a:prstGeom>
          <a:solidFill>
            <a:srgbClr val="F4F5F7"/>
          </a:solidFill>
          <a:ln w="12700">
            <a:solidFill>
              <a:srgbClr val="F4F5F7"/>
            </a:solidFill>
            <a:prstDash val="solid"/>
          </a:ln>
        </p:spPr>
      </p:sp>
      <p:sp>
        <p:nvSpPr>
          <p:cNvPr id="12" name="Text 10"/>
          <p:cNvSpPr txBox="1"/>
          <p:nvPr/>
        </p:nvSpPr>
        <p:spPr>
          <a:xfrm>
            <a:off x="594360" y="2039112"/>
            <a:ext cx="1325880" cy="274320"/>
          </a:xfrm>
          <a:prstGeom prst="rect">
            <a:avLst/>
          </a:prstGeom>
          <a:noFill/>
          <a:ln/>
        </p:spPr>
        <p:txBody>
          <a:bodyPr wrap="square" lIns="0" tIns="0" rIns="0" bIns="0" rtlCol="0" anchor="ctr"/>
          <a:lstStyle/>
          <a:p>
            <a:pPr marL="0" indent="0">
              <a:buNone/>
            </a:pPr>
            <a:r>
              <a:rPr lang="en-US" sz="1100" b="1" dirty="0">
                <a:solidFill>
                  <a:srgbClr val="C74634"/>
                </a:solidFill>
                <a:latin typeface="Courier New" pitchFamily="34" charset="0"/>
                <a:ea typeface="Courier New" pitchFamily="34" charset="-122"/>
                <a:cs typeface="Courier New" pitchFamily="34" charset="-120"/>
              </a:rPr>
              <a:t>lb nlb apg waf</a:t>
            </a:r>
            <a:endParaRPr lang="en-US" sz="1100" dirty="0"/>
          </a:p>
        </p:txBody>
      </p:sp>
      <p:sp>
        <p:nvSpPr>
          <p:cNvPr id="13" name="Text 11"/>
          <p:cNvSpPr txBox="1"/>
          <p:nvPr/>
        </p:nvSpPr>
        <p:spPr>
          <a:xfrm>
            <a:off x="1965960" y="2039112"/>
            <a:ext cx="2377440" cy="274320"/>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Exposure</a:t>
            </a:r>
            <a:endParaRPr lang="en-US" sz="1200" dirty="0"/>
          </a:p>
        </p:txBody>
      </p:sp>
      <p:sp>
        <p:nvSpPr>
          <p:cNvPr id="14" name="Text 12"/>
          <p:cNvSpPr txBox="1"/>
          <p:nvPr/>
        </p:nvSpPr>
        <p:spPr>
          <a:xfrm>
            <a:off x="594360" y="2350008"/>
            <a:ext cx="3749040" cy="320040"/>
          </a:xfrm>
          <a:prstGeom prst="rect">
            <a:avLst/>
          </a:prstGeom>
          <a:noFill/>
          <a:ln/>
        </p:spPr>
        <p:txBody>
          <a:bodyPr wrap="square" lIns="0" tIns="0" rIns="0" bIns="0" rtlCol="0" anchor="ctr"/>
          <a:lstStyle/>
          <a:p>
            <a:pPr marL="0" indent="0">
              <a:buNone/>
            </a:pPr>
            <a:r>
              <a:rPr lang="en-US" sz="1100" dirty="0">
                <a:solidFill>
                  <a:srgbClr val="3A7D44"/>
                </a:solidFill>
                <a:latin typeface="Courier New" pitchFamily="34" charset="0"/>
                <a:ea typeface="Courier New" pitchFamily="34" charset="-122"/>
                <a:cs typeface="Courier New" pitchFamily="34" charset="-120"/>
              </a:rPr>
              <a:t>ext (internet/partners)  int (internal)</a:t>
            </a:r>
            <a:endParaRPr lang="en-US" sz="1100" dirty="0"/>
          </a:p>
        </p:txBody>
      </p:sp>
      <p:sp>
        <p:nvSpPr>
          <p:cNvPr id="15" name="Shape 13"/>
          <p:cNvSpPr/>
          <p:nvPr/>
        </p:nvSpPr>
        <p:spPr>
          <a:xfrm>
            <a:off x="4663440" y="1965960"/>
            <a:ext cx="4023360" cy="749808"/>
          </a:xfrm>
          <a:prstGeom prst="roundRect">
            <a:avLst>
              <a:gd name="adj" fmla="val 7317"/>
            </a:avLst>
          </a:prstGeom>
          <a:solidFill>
            <a:srgbClr val="F4F5F7"/>
          </a:solidFill>
          <a:ln w="12700">
            <a:solidFill>
              <a:srgbClr val="F4F5F7"/>
            </a:solidFill>
            <a:prstDash val="solid"/>
          </a:ln>
        </p:spPr>
      </p:sp>
      <p:sp>
        <p:nvSpPr>
          <p:cNvPr id="16" name="Text 14"/>
          <p:cNvSpPr txBox="1"/>
          <p:nvPr/>
        </p:nvSpPr>
        <p:spPr>
          <a:xfrm>
            <a:off x="4800600" y="2039112"/>
            <a:ext cx="1325880" cy="274320"/>
          </a:xfrm>
          <a:prstGeom prst="rect">
            <a:avLst/>
          </a:prstGeom>
          <a:noFill/>
          <a:ln/>
        </p:spPr>
        <p:txBody>
          <a:bodyPr wrap="square" lIns="0" tIns="0" rIns="0" bIns="0" rtlCol="0" anchor="ctr"/>
          <a:lstStyle/>
          <a:p>
            <a:pPr marL="0" indent="0">
              <a:buNone/>
            </a:pPr>
            <a:r>
              <a:rPr lang="en-US" sz="1100" b="1" dirty="0">
                <a:solidFill>
                  <a:srgbClr val="C74634"/>
                </a:solidFill>
                <a:latin typeface="Courier New" pitchFamily="34" charset="0"/>
                <a:ea typeface="Courier New" pitchFamily="34" charset="-122"/>
                <a:cs typeface="Courier New" pitchFamily="34" charset="-120"/>
              </a:rPr>
              <a:t>bkt</a:t>
            </a:r>
            <a:endParaRPr lang="en-US" sz="1100" dirty="0"/>
          </a:p>
        </p:txBody>
      </p:sp>
      <p:sp>
        <p:nvSpPr>
          <p:cNvPr id="17" name="Text 15"/>
          <p:cNvSpPr txBox="1"/>
          <p:nvPr/>
        </p:nvSpPr>
        <p:spPr>
          <a:xfrm>
            <a:off x="6172200" y="2039112"/>
            <a:ext cx="2377440" cy="274320"/>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Bucket purpose</a:t>
            </a:r>
            <a:endParaRPr lang="en-US" sz="1200" dirty="0"/>
          </a:p>
        </p:txBody>
      </p:sp>
      <p:sp>
        <p:nvSpPr>
          <p:cNvPr id="18" name="Text 16"/>
          <p:cNvSpPr txBox="1"/>
          <p:nvPr/>
        </p:nvSpPr>
        <p:spPr>
          <a:xfrm>
            <a:off x="4800600" y="2350008"/>
            <a:ext cx="3749040" cy="320040"/>
          </a:xfrm>
          <a:prstGeom prst="rect">
            <a:avLst/>
          </a:prstGeom>
          <a:noFill/>
          <a:ln/>
        </p:spPr>
        <p:txBody>
          <a:bodyPr wrap="square" lIns="0" tIns="0" rIns="0" bIns="0" rtlCol="0" anchor="ctr"/>
          <a:lstStyle/>
          <a:p>
            <a:pPr marL="0" indent="0">
              <a:buNone/>
            </a:pPr>
            <a:r>
              <a:rPr lang="en-US" sz="1100" dirty="0">
                <a:solidFill>
                  <a:srgbClr val="3A7D44"/>
                </a:solidFill>
                <a:latin typeface="Courier New" pitchFamily="34" charset="0"/>
                <a:ea typeface="Courier New" pitchFamily="34" charset="-122"/>
                <a:cs typeface="Courier New" pitchFamily="34" charset="-120"/>
              </a:rPr>
              <a:t>data log bkp arc exp raw cur tfs aud</a:t>
            </a:r>
            <a:endParaRPr lang="en-US" sz="1100" dirty="0"/>
          </a:p>
        </p:txBody>
      </p:sp>
      <p:sp>
        <p:nvSpPr>
          <p:cNvPr id="19" name="Shape 17"/>
          <p:cNvSpPr/>
          <p:nvPr/>
        </p:nvSpPr>
        <p:spPr>
          <a:xfrm>
            <a:off x="457200" y="2834640"/>
            <a:ext cx="4023360" cy="749808"/>
          </a:xfrm>
          <a:prstGeom prst="roundRect">
            <a:avLst>
              <a:gd name="adj" fmla="val 7317"/>
            </a:avLst>
          </a:prstGeom>
          <a:solidFill>
            <a:srgbClr val="F4F5F7"/>
          </a:solidFill>
          <a:ln w="12700">
            <a:solidFill>
              <a:srgbClr val="F4F5F7"/>
            </a:solidFill>
            <a:prstDash val="solid"/>
          </a:ln>
        </p:spPr>
      </p:sp>
      <p:sp>
        <p:nvSpPr>
          <p:cNvPr id="20" name="Text 18"/>
          <p:cNvSpPr txBox="1"/>
          <p:nvPr/>
        </p:nvSpPr>
        <p:spPr>
          <a:xfrm>
            <a:off x="594360" y="2907792"/>
            <a:ext cx="1325880" cy="274320"/>
          </a:xfrm>
          <a:prstGeom prst="rect">
            <a:avLst/>
          </a:prstGeom>
          <a:noFill/>
          <a:ln/>
        </p:spPr>
        <p:txBody>
          <a:bodyPr wrap="square" lIns="0" tIns="0" rIns="0" bIns="0" rtlCol="0" anchor="ctr"/>
          <a:lstStyle/>
          <a:p>
            <a:pPr marL="0" indent="0">
              <a:buNone/>
            </a:pPr>
            <a:r>
              <a:rPr lang="en-US" sz="1100" b="1" dirty="0">
                <a:solidFill>
                  <a:srgbClr val="C74634"/>
                </a:solidFill>
                <a:latin typeface="Courier New" pitchFamily="34" charset="0"/>
                <a:ea typeface="Courier New" pitchFamily="34" charset="-122"/>
                <a:cs typeface="Courier New" pitchFamily="34" charset="-120"/>
              </a:rPr>
              <a:t>adb</a:t>
            </a:r>
            <a:endParaRPr lang="en-US" sz="1100" dirty="0"/>
          </a:p>
        </p:txBody>
      </p:sp>
      <p:sp>
        <p:nvSpPr>
          <p:cNvPr id="21" name="Text 19"/>
          <p:cNvSpPr txBox="1"/>
          <p:nvPr/>
        </p:nvSpPr>
        <p:spPr>
          <a:xfrm>
            <a:off x="1965960" y="2907792"/>
            <a:ext cx="2377440" cy="274320"/>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DB workload</a:t>
            </a:r>
            <a:endParaRPr lang="en-US" sz="1200" dirty="0"/>
          </a:p>
        </p:txBody>
      </p:sp>
      <p:sp>
        <p:nvSpPr>
          <p:cNvPr id="22" name="Text 20"/>
          <p:cNvSpPr txBox="1"/>
          <p:nvPr/>
        </p:nvSpPr>
        <p:spPr>
          <a:xfrm>
            <a:off x="594360" y="3218688"/>
            <a:ext cx="3749040" cy="320040"/>
          </a:xfrm>
          <a:prstGeom prst="rect">
            <a:avLst/>
          </a:prstGeom>
          <a:noFill/>
          <a:ln/>
        </p:spPr>
        <p:txBody>
          <a:bodyPr wrap="square" lIns="0" tIns="0" rIns="0" bIns="0" rtlCol="0" anchor="ctr"/>
          <a:lstStyle/>
          <a:p>
            <a:pPr marL="0" indent="0">
              <a:buNone/>
            </a:pPr>
            <a:r>
              <a:rPr lang="en-US" sz="1100" dirty="0">
                <a:solidFill>
                  <a:srgbClr val="3A7D44"/>
                </a:solidFill>
                <a:latin typeface="Courier New" pitchFamily="34" charset="0"/>
                <a:ea typeface="Courier New" pitchFamily="34" charset="-122"/>
                <a:cs typeface="Courier New" pitchFamily="34" charset="-120"/>
              </a:rPr>
              <a:t>atp  adw  ajd  apx</a:t>
            </a:r>
            <a:endParaRPr lang="en-US" sz="1100" dirty="0"/>
          </a:p>
        </p:txBody>
      </p:sp>
      <p:sp>
        <p:nvSpPr>
          <p:cNvPr id="23" name="Shape 21"/>
          <p:cNvSpPr/>
          <p:nvPr/>
        </p:nvSpPr>
        <p:spPr>
          <a:xfrm>
            <a:off x="4663440" y="2834640"/>
            <a:ext cx="4023360" cy="749808"/>
          </a:xfrm>
          <a:prstGeom prst="roundRect">
            <a:avLst>
              <a:gd name="adj" fmla="val 7317"/>
            </a:avLst>
          </a:prstGeom>
          <a:solidFill>
            <a:srgbClr val="F4F5F7"/>
          </a:solidFill>
          <a:ln w="12700">
            <a:solidFill>
              <a:srgbClr val="F4F5F7"/>
            </a:solidFill>
            <a:prstDash val="solid"/>
          </a:ln>
        </p:spPr>
      </p:sp>
      <p:sp>
        <p:nvSpPr>
          <p:cNvPr id="24" name="Text 22"/>
          <p:cNvSpPr txBox="1"/>
          <p:nvPr/>
        </p:nvSpPr>
        <p:spPr>
          <a:xfrm>
            <a:off x="4800600" y="2907792"/>
            <a:ext cx="1325880" cy="274320"/>
          </a:xfrm>
          <a:prstGeom prst="rect">
            <a:avLst/>
          </a:prstGeom>
          <a:noFill/>
          <a:ln/>
        </p:spPr>
        <p:txBody>
          <a:bodyPr wrap="square" lIns="0" tIns="0" rIns="0" bIns="0" rtlCol="0" anchor="ctr"/>
          <a:lstStyle/>
          <a:p>
            <a:pPr marL="0" indent="0">
              <a:buNone/>
            </a:pPr>
            <a:r>
              <a:rPr lang="en-US" sz="1100" b="1" dirty="0">
                <a:solidFill>
                  <a:srgbClr val="C74634"/>
                </a:solidFill>
                <a:latin typeface="Courier New" pitchFamily="34" charset="0"/>
                <a:ea typeface="Courier New" pitchFamily="34" charset="-122"/>
                <a:cs typeface="Courier New" pitchFamily="34" charset="-120"/>
              </a:rPr>
              <a:t>dbs · mys pgs</a:t>
            </a:r>
            <a:endParaRPr lang="en-US" sz="1100" dirty="0"/>
          </a:p>
        </p:txBody>
      </p:sp>
      <p:sp>
        <p:nvSpPr>
          <p:cNvPr id="25" name="Text 23"/>
          <p:cNvSpPr txBox="1"/>
          <p:nvPr/>
        </p:nvSpPr>
        <p:spPr>
          <a:xfrm>
            <a:off x="6172200" y="2907792"/>
            <a:ext cx="2377440" cy="274320"/>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DB topology</a:t>
            </a:r>
            <a:endParaRPr lang="en-US" sz="1200" dirty="0"/>
          </a:p>
        </p:txBody>
      </p:sp>
      <p:sp>
        <p:nvSpPr>
          <p:cNvPr id="26" name="Text 24"/>
          <p:cNvSpPr txBox="1"/>
          <p:nvPr/>
        </p:nvSpPr>
        <p:spPr>
          <a:xfrm>
            <a:off x="4800600" y="3218688"/>
            <a:ext cx="3749040" cy="320040"/>
          </a:xfrm>
          <a:prstGeom prst="rect">
            <a:avLst/>
          </a:prstGeom>
          <a:noFill/>
          <a:ln/>
        </p:spPr>
        <p:txBody>
          <a:bodyPr wrap="square" lIns="0" tIns="0" rIns="0" bIns="0" rtlCol="0" anchor="ctr"/>
          <a:lstStyle/>
          <a:p>
            <a:pPr marL="0" indent="0">
              <a:buNone/>
            </a:pPr>
            <a:r>
              <a:rPr lang="en-US" sz="1100" dirty="0">
                <a:solidFill>
                  <a:srgbClr val="3A7D44"/>
                </a:solidFill>
                <a:latin typeface="Courier New" pitchFamily="34" charset="0"/>
                <a:ea typeface="Courier New" pitchFamily="34" charset="-122"/>
                <a:cs typeface="Courier New" pitchFamily="34" charset="-120"/>
              </a:rPr>
              <a:t>si  rac · si  ha</a:t>
            </a:r>
            <a:endParaRPr lang="en-US" sz="1100" dirty="0"/>
          </a:p>
        </p:txBody>
      </p:sp>
      <p:sp>
        <p:nvSpPr>
          <p:cNvPr id="27" name="Shape 25"/>
          <p:cNvSpPr/>
          <p:nvPr/>
        </p:nvSpPr>
        <p:spPr>
          <a:xfrm>
            <a:off x="457200" y="3703320"/>
            <a:ext cx="4023360" cy="749808"/>
          </a:xfrm>
          <a:prstGeom prst="roundRect">
            <a:avLst>
              <a:gd name="adj" fmla="val 7317"/>
            </a:avLst>
          </a:prstGeom>
          <a:solidFill>
            <a:srgbClr val="F4F5F7"/>
          </a:solidFill>
          <a:ln w="12700">
            <a:solidFill>
              <a:srgbClr val="F4F5F7"/>
            </a:solidFill>
            <a:prstDash val="solid"/>
          </a:ln>
        </p:spPr>
      </p:sp>
      <p:sp>
        <p:nvSpPr>
          <p:cNvPr id="28" name="Text 26"/>
          <p:cNvSpPr txBox="1"/>
          <p:nvPr/>
        </p:nvSpPr>
        <p:spPr>
          <a:xfrm>
            <a:off x="594360" y="3776472"/>
            <a:ext cx="1325880" cy="274320"/>
          </a:xfrm>
          <a:prstGeom prst="rect">
            <a:avLst/>
          </a:prstGeom>
          <a:noFill/>
          <a:ln/>
        </p:spPr>
        <p:txBody>
          <a:bodyPr wrap="square" lIns="0" tIns="0" rIns="0" bIns="0" rtlCol="0" anchor="ctr"/>
          <a:lstStyle/>
          <a:p>
            <a:pPr marL="0" indent="0">
              <a:buNone/>
            </a:pPr>
            <a:r>
              <a:rPr lang="en-US" sz="1100" b="1" dirty="0">
                <a:solidFill>
                  <a:srgbClr val="C74634"/>
                </a:solidFill>
                <a:latin typeface="Courier New" pitchFamily="34" charset="0"/>
                <a:ea typeface="Courier New" pitchFamily="34" charset="-122"/>
                <a:cs typeface="Courier New" pitchFamily="34" charset="-120"/>
              </a:rPr>
              <a:t>key · scrt</a:t>
            </a:r>
            <a:endParaRPr lang="en-US" sz="1100" dirty="0"/>
          </a:p>
        </p:txBody>
      </p:sp>
      <p:sp>
        <p:nvSpPr>
          <p:cNvPr id="29" name="Text 27"/>
          <p:cNvSpPr txBox="1"/>
          <p:nvPr/>
        </p:nvSpPr>
        <p:spPr>
          <a:xfrm>
            <a:off x="1965960" y="3776472"/>
            <a:ext cx="2377440" cy="274320"/>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Key / secret</a:t>
            </a:r>
            <a:endParaRPr lang="en-US" sz="1200" dirty="0"/>
          </a:p>
        </p:txBody>
      </p:sp>
      <p:sp>
        <p:nvSpPr>
          <p:cNvPr id="30" name="Text 28"/>
          <p:cNvSpPr txBox="1"/>
          <p:nvPr/>
        </p:nvSpPr>
        <p:spPr>
          <a:xfrm>
            <a:off x="594360" y="4087368"/>
            <a:ext cx="3749040" cy="320040"/>
          </a:xfrm>
          <a:prstGeom prst="rect">
            <a:avLst/>
          </a:prstGeom>
          <a:noFill/>
          <a:ln/>
        </p:spPr>
        <p:txBody>
          <a:bodyPr wrap="square" lIns="0" tIns="0" rIns="0" bIns="0" rtlCol="0" anchor="ctr"/>
          <a:lstStyle/>
          <a:p>
            <a:pPr marL="0" indent="0">
              <a:buNone/>
            </a:pPr>
            <a:r>
              <a:rPr lang="en-US" sz="1100" dirty="0">
                <a:solidFill>
                  <a:srgbClr val="3A7D44"/>
                </a:solidFill>
                <a:latin typeface="Courier New" pitchFamily="34" charset="0"/>
                <a:ea typeface="Courier New" pitchFamily="34" charset="-122"/>
                <a:cs typeface="Courier New" pitchFamily="34" charset="-120"/>
              </a:rPr>
              <a:t>tde bkt blk scrt sgn oke · dbc api ssh tls svc wlt</a:t>
            </a:r>
            <a:endParaRPr lang="en-US" sz="1100" dirty="0"/>
          </a:p>
        </p:txBody>
      </p:sp>
      <p:sp>
        <p:nvSpPr>
          <p:cNvPr id="31" name="Shape 29"/>
          <p:cNvSpPr/>
          <p:nvPr/>
        </p:nvSpPr>
        <p:spPr>
          <a:xfrm>
            <a:off x="4663440" y="3703320"/>
            <a:ext cx="4023360" cy="749808"/>
          </a:xfrm>
          <a:prstGeom prst="roundRect">
            <a:avLst>
              <a:gd name="adj" fmla="val 7317"/>
            </a:avLst>
          </a:prstGeom>
          <a:solidFill>
            <a:srgbClr val="F4F5F7"/>
          </a:solidFill>
          <a:ln w="12700">
            <a:solidFill>
              <a:srgbClr val="F4F5F7"/>
            </a:solidFill>
            <a:prstDash val="solid"/>
          </a:ln>
        </p:spPr>
      </p:sp>
      <p:sp>
        <p:nvSpPr>
          <p:cNvPr id="32" name="Text 30"/>
          <p:cNvSpPr txBox="1"/>
          <p:nvPr/>
        </p:nvSpPr>
        <p:spPr>
          <a:xfrm>
            <a:off x="4800600" y="3776472"/>
            <a:ext cx="1325880" cy="274320"/>
          </a:xfrm>
          <a:prstGeom prst="rect">
            <a:avLst/>
          </a:prstGeom>
          <a:noFill/>
          <a:ln/>
        </p:spPr>
        <p:txBody>
          <a:bodyPr wrap="square" lIns="0" tIns="0" rIns="0" bIns="0" rtlCol="0" anchor="ctr"/>
          <a:lstStyle/>
          <a:p>
            <a:pPr marL="0" indent="0">
              <a:buNone/>
            </a:pPr>
            <a:r>
              <a:rPr lang="en-US" sz="1100" b="1" dirty="0">
                <a:solidFill>
                  <a:srgbClr val="C74634"/>
                </a:solidFill>
                <a:latin typeface="Courier New" pitchFamily="34" charset="0"/>
                <a:ea typeface="Courier New" pitchFamily="34" charset="-122"/>
                <a:cs typeface="Courier New" pitchFamily="34" charset="-120"/>
              </a:rPr>
              <a:t>pol grp</a:t>
            </a:r>
            <a:endParaRPr lang="en-US" sz="1100" dirty="0"/>
          </a:p>
        </p:txBody>
      </p:sp>
      <p:sp>
        <p:nvSpPr>
          <p:cNvPr id="33" name="Text 31"/>
          <p:cNvSpPr txBox="1"/>
          <p:nvPr/>
        </p:nvSpPr>
        <p:spPr>
          <a:xfrm>
            <a:off x="6172200" y="3776472"/>
            <a:ext cx="2377440" cy="274320"/>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IAM role</a:t>
            </a:r>
            <a:endParaRPr lang="en-US" sz="1200" dirty="0"/>
          </a:p>
        </p:txBody>
      </p:sp>
      <p:sp>
        <p:nvSpPr>
          <p:cNvPr id="34" name="Text 32"/>
          <p:cNvSpPr txBox="1"/>
          <p:nvPr/>
        </p:nvSpPr>
        <p:spPr>
          <a:xfrm>
            <a:off x="4800600" y="4087368"/>
            <a:ext cx="3749040" cy="320040"/>
          </a:xfrm>
          <a:prstGeom prst="rect">
            <a:avLst/>
          </a:prstGeom>
          <a:noFill/>
          <a:ln/>
        </p:spPr>
        <p:txBody>
          <a:bodyPr wrap="square" lIns="0" tIns="0" rIns="0" bIns="0" rtlCol="0" anchor="ctr"/>
          <a:lstStyle/>
          <a:p>
            <a:pPr marL="0" indent="0">
              <a:buNone/>
            </a:pPr>
            <a:r>
              <a:rPr lang="en-US" sz="1100" dirty="0">
                <a:solidFill>
                  <a:srgbClr val="3A7D44"/>
                </a:solidFill>
                <a:latin typeface="Courier New" pitchFamily="34" charset="0"/>
                <a:ea typeface="Courier New" pitchFamily="34" charset="-122"/>
                <a:cs typeface="Courier New" pitchFamily="34" charset="-120"/>
              </a:rPr>
              <a:t>admin oper read audit deploy brkgl</a:t>
            </a:r>
            <a:endParaRPr lang="en-US" sz="1100" dirty="0"/>
          </a:p>
        </p:txBody>
      </p:sp>
      <p:sp>
        <p:nvSpPr>
          <p:cNvPr id="35" name="Text 33"/>
          <p:cNvSpPr txBox="1"/>
          <p:nvPr/>
        </p:nvSpPr>
        <p:spPr>
          <a:xfrm>
            <a:off x="457200" y="4800600"/>
            <a:ext cx="4572000" cy="228600"/>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OCI Naming Standard  ·  cmr</a:t>
            </a:r>
            <a:endParaRPr lang="en-US" sz="900" dirty="0"/>
          </a:p>
        </p:txBody>
      </p:sp>
      <p:sp>
        <p:nvSpPr>
          <p:cNvPr id="36" name="Text 34"/>
          <p:cNvSpPr txBox="1"/>
          <p:nvPr/>
        </p:nvSpPr>
        <p:spPr>
          <a:xfrm>
            <a:off x="8229600" y="4800600"/>
            <a:ext cx="457200" cy="228600"/>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4213D"/>
                </a:solidFill>
                <a:latin typeface="Calibri" pitchFamily="34" charset="0"/>
                <a:ea typeface="Calibri" pitchFamily="34" charset="-122"/>
                <a:cs typeface="Calibri" pitchFamily="34" charset="-120"/>
              </a:rPr>
              <a:t>Field 7: the number</a:t>
            </a:r>
            <a:endParaRPr lang="en-US" sz="2800" dirty="0"/>
          </a:p>
        </p:txBody>
      </p:sp>
      <p:sp>
        <p:nvSpPr>
          <p:cNvPr id="3" name="Shape 1"/>
          <p:cNvSpPr/>
          <p:nvPr/>
        </p:nvSpPr>
        <p:spPr>
          <a:xfrm>
            <a:off x="457200" y="1371600"/>
            <a:ext cx="1188720" cy="822960"/>
          </a:xfrm>
          <a:prstGeom prst="roundRect">
            <a:avLst>
              <a:gd name="adj" fmla="val 8889"/>
            </a:avLst>
          </a:prstGeom>
          <a:solidFill>
            <a:srgbClr val="5B6B7F"/>
          </a:solidFill>
          <a:ln w="12700">
            <a:solidFill>
              <a:srgbClr val="5B6B7F"/>
            </a:solidFill>
            <a:prstDash val="solid"/>
          </a:ln>
        </p:spPr>
      </p:sp>
      <p:sp>
        <p:nvSpPr>
          <p:cNvPr id="4" name="Text 2"/>
          <p:cNvSpPr txBox="1"/>
          <p:nvPr/>
        </p:nvSpPr>
        <p:spPr>
          <a:xfrm>
            <a:off x="457200" y="1371600"/>
            <a:ext cx="1188720" cy="822960"/>
          </a:xfrm>
          <a:prstGeom prst="rect">
            <a:avLst/>
          </a:prstGeom>
          <a:noFill/>
          <a:ln/>
        </p:spPr>
        <p:txBody>
          <a:bodyPr wrap="square" lIns="0" tIns="0" rIns="0" bIns="0" rtlCol="0" anchor="ctr"/>
          <a:lstStyle/>
          <a:p>
            <a:pPr marL="0" indent="0" algn="ctr">
              <a:buNone/>
            </a:pPr>
            <a:r>
              <a:rPr lang="en-US" sz="3200" b="1" dirty="0">
                <a:solidFill>
                  <a:srgbClr val="FFFFFF"/>
                </a:solidFill>
                <a:latin typeface="Courier New" pitchFamily="34" charset="0"/>
                <a:ea typeface="Courier New" pitchFamily="34" charset="-122"/>
                <a:cs typeface="Courier New" pitchFamily="34" charset="-120"/>
              </a:rPr>
              <a:t>01</a:t>
            </a:r>
            <a:endParaRPr lang="en-US" sz="3200" dirty="0"/>
          </a:p>
        </p:txBody>
      </p:sp>
      <p:sp>
        <p:nvSpPr>
          <p:cNvPr id="5" name="Text 3"/>
          <p:cNvSpPr txBox="1"/>
          <p:nvPr/>
        </p:nvSpPr>
        <p:spPr>
          <a:xfrm>
            <a:off x="1737360" y="1554480"/>
            <a:ext cx="457200" cy="457200"/>
          </a:xfrm>
          <a:prstGeom prst="rect">
            <a:avLst/>
          </a:prstGeom>
          <a:noFill/>
          <a:ln/>
        </p:spPr>
        <p:txBody>
          <a:bodyPr wrap="square" lIns="0" tIns="0" rIns="0" bIns="0" rtlCol="0" anchor="ctr"/>
          <a:lstStyle/>
          <a:p>
            <a:pPr marL="0" indent="0" algn="ctr">
              <a:buNone/>
            </a:pPr>
            <a:r>
              <a:rPr lang="en-US" sz="1600" dirty="0">
                <a:solidFill>
                  <a:srgbClr val="5B6B7F"/>
                </a:solidFill>
                <a:latin typeface="Calibri" pitchFamily="34" charset="0"/>
                <a:ea typeface="Calibri" pitchFamily="34" charset="-122"/>
                <a:cs typeface="Calibri" pitchFamily="34" charset="-120"/>
              </a:rPr>
              <a:t>to</a:t>
            </a:r>
            <a:endParaRPr lang="en-US" sz="1600" dirty="0"/>
          </a:p>
        </p:txBody>
      </p:sp>
      <p:sp>
        <p:nvSpPr>
          <p:cNvPr id="6" name="Shape 4"/>
          <p:cNvSpPr/>
          <p:nvPr/>
        </p:nvSpPr>
        <p:spPr>
          <a:xfrm>
            <a:off x="2286000" y="1371600"/>
            <a:ext cx="1188720" cy="822960"/>
          </a:xfrm>
          <a:prstGeom prst="roundRect">
            <a:avLst>
              <a:gd name="adj" fmla="val 8889"/>
            </a:avLst>
          </a:prstGeom>
          <a:solidFill>
            <a:srgbClr val="5B6B7F"/>
          </a:solidFill>
          <a:ln w="12700">
            <a:solidFill>
              <a:srgbClr val="5B6B7F"/>
            </a:solidFill>
            <a:prstDash val="solid"/>
          </a:ln>
        </p:spPr>
      </p:sp>
      <p:sp>
        <p:nvSpPr>
          <p:cNvPr id="7" name="Text 5"/>
          <p:cNvSpPr txBox="1"/>
          <p:nvPr/>
        </p:nvSpPr>
        <p:spPr>
          <a:xfrm>
            <a:off x="2286000" y="1371600"/>
            <a:ext cx="1188720" cy="822960"/>
          </a:xfrm>
          <a:prstGeom prst="rect">
            <a:avLst/>
          </a:prstGeom>
          <a:noFill/>
          <a:ln/>
        </p:spPr>
        <p:txBody>
          <a:bodyPr wrap="square" lIns="0" tIns="0" rIns="0" bIns="0" rtlCol="0" anchor="ctr"/>
          <a:lstStyle/>
          <a:p>
            <a:pPr marL="0" indent="0" algn="ctr">
              <a:buNone/>
            </a:pPr>
            <a:r>
              <a:rPr lang="en-US" sz="3200" b="1" dirty="0">
                <a:solidFill>
                  <a:srgbClr val="FFFFFF"/>
                </a:solidFill>
                <a:latin typeface="Courier New" pitchFamily="34" charset="0"/>
                <a:ea typeface="Courier New" pitchFamily="34" charset="-122"/>
                <a:cs typeface="Courier New" pitchFamily="34" charset="-120"/>
              </a:rPr>
              <a:t>99</a:t>
            </a:r>
            <a:endParaRPr lang="en-US" sz="3200" dirty="0"/>
          </a:p>
        </p:txBody>
      </p:sp>
      <p:sp>
        <p:nvSpPr>
          <p:cNvPr id="8" name="Text 6"/>
          <p:cNvSpPr txBox="1"/>
          <p:nvPr/>
        </p:nvSpPr>
        <p:spPr>
          <a:xfrm>
            <a:off x="3931920" y="1280160"/>
            <a:ext cx="475488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Always two digits, even if there is only one (01)</a:t>
            </a:r>
            <a:endParaRPr lang="en-US" sz="1400" dirty="0"/>
          </a:p>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Starts at 01 for each identical combination of the other fields</a:t>
            </a:r>
            <a:endParaRPr lang="en-US" sz="1400" dirty="0"/>
          </a:p>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Never reuse a number while the old resource, its backups or pending deletion still exist</a:t>
            </a:r>
            <a:endParaRPr lang="en-US" sz="1400" dirty="0"/>
          </a:p>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A resource and its DR copy keep the same number</a:t>
            </a:r>
            <a:endParaRPr lang="en-US" sz="1400" dirty="0"/>
          </a:p>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Custom images: the build date instead (20260915)</a:t>
            </a:r>
            <a:endParaRPr lang="en-US" sz="1400" dirty="0"/>
          </a:p>
        </p:txBody>
      </p:sp>
      <p:sp>
        <p:nvSpPr>
          <p:cNvPr id="9" name="Shape 7"/>
          <p:cNvSpPr/>
          <p:nvPr/>
        </p:nvSpPr>
        <p:spPr>
          <a:xfrm>
            <a:off x="457200" y="2560320"/>
            <a:ext cx="3017520" cy="1188720"/>
          </a:xfrm>
          <a:prstGeom prst="roundRect">
            <a:avLst>
              <a:gd name="adj" fmla="val 4615"/>
            </a:avLst>
          </a:prstGeom>
          <a:solidFill>
            <a:srgbClr val="EEF1F6"/>
          </a:solidFill>
          <a:ln w="12700">
            <a:solidFill>
              <a:srgbClr val="EEF1F6"/>
            </a:solidFill>
            <a:prstDash val="solid"/>
          </a:ln>
        </p:spPr>
      </p:sp>
      <p:sp>
        <p:nvSpPr>
          <p:cNvPr id="10" name="Text 8"/>
          <p:cNvSpPr txBox="1"/>
          <p:nvPr/>
        </p:nvSpPr>
        <p:spPr>
          <a:xfrm>
            <a:off x="640080" y="2651760"/>
            <a:ext cx="2743200" cy="274320"/>
          </a:xfrm>
          <a:prstGeom prst="rect">
            <a:avLst/>
          </a:prstGeom>
          <a:noFill/>
          <a:ln/>
        </p:spPr>
        <p:txBody>
          <a:bodyPr wrap="square" lIns="0" tIns="0" rIns="0" bIns="0" rtlCol="0" anchor="ctr"/>
          <a:lstStyle/>
          <a:p>
            <a:pPr marL="0" indent="0">
              <a:buNone/>
            </a:pPr>
            <a:r>
              <a:rPr lang="en-US" sz="1300" b="1" dirty="0">
                <a:solidFill>
                  <a:srgbClr val="14213D"/>
                </a:solidFill>
                <a:latin typeface="Calibri" pitchFamily="34" charset="0"/>
                <a:ea typeface="Calibri" pitchFamily="34" charset="-122"/>
                <a:cs typeface="Calibri" pitchFamily="34" charset="-120"/>
              </a:rPr>
              <a:t>Rebuilt a server?</a:t>
            </a:r>
            <a:endParaRPr lang="en-US" sz="1300" dirty="0"/>
          </a:p>
        </p:txBody>
      </p:sp>
      <p:sp>
        <p:nvSpPr>
          <p:cNvPr id="11" name="Text 9"/>
          <p:cNvSpPr txBox="1"/>
          <p:nvPr/>
        </p:nvSpPr>
        <p:spPr>
          <a:xfrm>
            <a:off x="640080" y="2926080"/>
            <a:ext cx="2743200" cy="777240"/>
          </a:xfrm>
          <a:prstGeom prst="rect">
            <a:avLst/>
          </a:prstGeom>
          <a:noFill/>
          <a:ln/>
        </p:spPr>
        <p:txBody>
          <a:bodyPr wrap="square" lIns="0" tIns="0" rIns="0" bIns="0" rtlCol="0" anchor="t"/>
          <a:lstStyle/>
          <a:p>
            <a:pPr marL="0" indent="0">
              <a:buNone/>
            </a:pPr>
            <a:r>
              <a:rPr lang="en-US" sz="1200" dirty="0">
                <a:solidFill>
                  <a:srgbClr val="1F2933"/>
                </a:solidFill>
                <a:latin typeface="Calibri" pitchFamily="34" charset="0"/>
                <a:ea typeface="Calibri" pitchFamily="34" charset="-122"/>
                <a:cs typeface="Calibri" pitchFamily="34" charset="-120"/>
              </a:rPr>
              <a:t>Take the next number:</a:t>
            </a:r>
            <a:endParaRPr lang="en-US" sz="1200" dirty="0"/>
          </a:p>
          <a:p>
            <a:pPr marL="0" indent="0">
              <a:buNone/>
            </a:pPr>
            <a:r>
              <a:rPr lang="en-US" sz="1200" dirty="0">
                <a:solidFill>
                  <a:srgbClr val="1F2933"/>
                </a:solidFill>
                <a:latin typeface="Calibri" pitchFamily="34" charset="0"/>
                <a:ea typeface="Calibri" pitchFamily="34" charset="-122"/>
                <a:cs typeface="Calibri" pitchFamily="34" charset="-120"/>
              </a:rPr>
              <a:t>…-ol-01 → …-ol-02</a:t>
            </a:r>
            <a:endParaRPr lang="en-US" sz="1200" dirty="0"/>
          </a:p>
          <a:p>
            <a:pPr marL="0" indent="0">
              <a:buNone/>
            </a:pPr>
            <a:r>
              <a:rPr lang="en-US" sz="1200" dirty="0">
                <a:solidFill>
                  <a:srgbClr val="1F2933"/>
                </a:solidFill>
                <a:latin typeface="Calibri" pitchFamily="34" charset="0"/>
                <a:ea typeface="Calibri" pitchFamily="34" charset="-122"/>
                <a:cs typeface="Calibri" pitchFamily="34" charset="-120"/>
              </a:rPr>
              <a:t>never "-new" or "-v2"</a:t>
            </a:r>
            <a:endParaRPr lang="en-US" sz="1200" dirty="0"/>
          </a:p>
        </p:txBody>
      </p:sp>
      <p:sp>
        <p:nvSpPr>
          <p:cNvPr id="12" name="Text 10"/>
          <p:cNvSpPr txBox="1"/>
          <p:nvPr/>
        </p:nvSpPr>
        <p:spPr>
          <a:xfrm>
            <a:off x="457200" y="4800600"/>
            <a:ext cx="4572000" cy="228600"/>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OCI Naming Standard  ·  cmr</a:t>
            </a:r>
            <a:endParaRPr lang="en-US" sz="900" dirty="0"/>
          </a:p>
        </p:txBody>
      </p:sp>
      <p:sp>
        <p:nvSpPr>
          <p:cNvPr id="13" name="Text 11"/>
          <p:cNvSpPr txBox="1"/>
          <p:nvPr/>
        </p:nvSpPr>
        <p:spPr>
          <a:xfrm>
            <a:off x="8229600" y="4800600"/>
            <a:ext cx="457200" cy="228600"/>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4213D"/>
                </a:solidFill>
                <a:latin typeface="Calibri" pitchFamily="34" charset="0"/>
                <a:ea typeface="Calibri" pitchFamily="34" charset="-122"/>
                <a:cs typeface="Calibri" pitchFamily="34" charset="-120"/>
              </a:rPr>
              <a:t>Worked example: build it step by step</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300" dirty="0">
                <a:solidFill>
                  <a:srgbClr val="5B6B7F"/>
                </a:solidFill>
                <a:latin typeface="Calibri" pitchFamily="34" charset="0"/>
                <a:ea typeface="Calibri" pitchFamily="34" charset="-122"/>
                <a:cs typeface="Calibri" pitchFamily="34" charset="-120"/>
              </a:rPr>
              <a:t>"A Red Hat VM for payments, homologation 3, in Casablanca"</a:t>
            </a:r>
            <a:endParaRPr lang="en-US" sz="1300" dirty="0"/>
          </a:p>
        </p:txBody>
      </p:sp>
      <p:sp>
        <p:nvSpPr>
          <p:cNvPr id="4" name="Shape 2"/>
          <p:cNvSpPr/>
          <p:nvPr/>
        </p:nvSpPr>
        <p:spPr>
          <a:xfrm>
            <a:off x="457200" y="1234440"/>
            <a:ext cx="868680" cy="329184"/>
          </a:xfrm>
          <a:prstGeom prst="roundRect">
            <a:avLst>
              <a:gd name="adj" fmla="val 22222"/>
            </a:avLst>
          </a:prstGeom>
          <a:solidFill>
            <a:srgbClr val="14213D"/>
          </a:solidFill>
          <a:ln w="12700">
            <a:solidFill>
              <a:srgbClr val="14213D"/>
            </a:solidFill>
            <a:prstDash val="solid"/>
          </a:ln>
        </p:spPr>
      </p:sp>
      <p:sp>
        <p:nvSpPr>
          <p:cNvPr id="5" name="Text 3"/>
          <p:cNvSpPr txBox="1"/>
          <p:nvPr/>
        </p:nvSpPr>
        <p:spPr>
          <a:xfrm>
            <a:off x="457200" y="1234440"/>
            <a:ext cx="86868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org</a:t>
            </a:r>
            <a:endParaRPr lang="en-US" sz="1200" dirty="0"/>
          </a:p>
        </p:txBody>
      </p:sp>
      <p:sp>
        <p:nvSpPr>
          <p:cNvPr id="6" name="Text 4"/>
          <p:cNvSpPr txBox="1"/>
          <p:nvPr/>
        </p:nvSpPr>
        <p:spPr>
          <a:xfrm>
            <a:off x="1463040" y="1234440"/>
            <a:ext cx="3017520" cy="329184"/>
          </a:xfrm>
          <a:prstGeom prst="rect">
            <a:avLst/>
          </a:prstGeom>
          <a:noFill/>
          <a:ln/>
        </p:spPr>
        <p:txBody>
          <a:bodyPr wrap="square" lIns="0" tIns="0" rIns="0" bIns="0" rtlCol="0" anchor="ctr"/>
          <a:lstStyle/>
          <a:p>
            <a:pPr marL="0" indent="0">
              <a:buNone/>
            </a:pPr>
            <a:r>
              <a:rPr lang="en-US" sz="1300" dirty="0">
                <a:solidFill>
                  <a:srgbClr val="1F2933"/>
                </a:solidFill>
                <a:latin typeface="Calibri" pitchFamily="34" charset="0"/>
                <a:ea typeface="Calibri" pitchFamily="34" charset="-122"/>
                <a:cs typeface="Calibri" pitchFamily="34" charset="-120"/>
              </a:rPr>
              <a:t>Always</a:t>
            </a:r>
            <a:endParaRPr lang="en-US" sz="1300" dirty="0"/>
          </a:p>
        </p:txBody>
      </p:sp>
      <p:sp>
        <p:nvSpPr>
          <p:cNvPr id="7" name="Text 5"/>
          <p:cNvSpPr txBox="1"/>
          <p:nvPr/>
        </p:nvSpPr>
        <p:spPr>
          <a:xfrm>
            <a:off x="4480560" y="1234440"/>
            <a:ext cx="822960" cy="329184"/>
          </a:xfrm>
          <a:prstGeom prst="rect">
            <a:avLst/>
          </a:prstGeom>
          <a:noFill/>
          <a:ln/>
        </p:spPr>
        <p:txBody>
          <a:bodyPr wrap="square" lIns="0" tIns="0" rIns="0" bIns="0" rtlCol="0" anchor="ctr"/>
          <a:lstStyle/>
          <a:p>
            <a:pPr marL="0" indent="0">
              <a:buNone/>
            </a:pPr>
            <a:r>
              <a:rPr lang="en-US" sz="1400" b="1" dirty="0">
                <a:solidFill>
                  <a:srgbClr val="14213D"/>
                </a:solidFill>
                <a:latin typeface="Courier New" pitchFamily="34" charset="0"/>
                <a:ea typeface="Courier New" pitchFamily="34" charset="-122"/>
                <a:cs typeface="Courier New" pitchFamily="34" charset="-120"/>
              </a:rPr>
              <a:t>cmr</a:t>
            </a:r>
            <a:endParaRPr lang="en-US" sz="1400" dirty="0"/>
          </a:p>
        </p:txBody>
      </p:sp>
      <p:sp>
        <p:nvSpPr>
          <p:cNvPr id="8" name="Shape 6"/>
          <p:cNvSpPr/>
          <p:nvPr/>
        </p:nvSpPr>
        <p:spPr>
          <a:xfrm>
            <a:off x="457200" y="1627632"/>
            <a:ext cx="868680" cy="329184"/>
          </a:xfrm>
          <a:prstGeom prst="roundRect">
            <a:avLst>
              <a:gd name="adj" fmla="val 22222"/>
            </a:avLst>
          </a:prstGeom>
          <a:solidFill>
            <a:srgbClr val="0F7B8A"/>
          </a:solidFill>
          <a:ln w="12700">
            <a:solidFill>
              <a:srgbClr val="0F7B8A"/>
            </a:solidFill>
            <a:prstDash val="solid"/>
          </a:ln>
        </p:spPr>
      </p:sp>
      <p:sp>
        <p:nvSpPr>
          <p:cNvPr id="9" name="Text 7"/>
          <p:cNvSpPr txBox="1"/>
          <p:nvPr/>
        </p:nvSpPr>
        <p:spPr>
          <a:xfrm>
            <a:off x="457200" y="1627632"/>
            <a:ext cx="86868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env</a:t>
            </a:r>
            <a:endParaRPr lang="en-US" sz="1200" dirty="0"/>
          </a:p>
        </p:txBody>
      </p:sp>
      <p:sp>
        <p:nvSpPr>
          <p:cNvPr id="10" name="Text 8"/>
          <p:cNvSpPr txBox="1"/>
          <p:nvPr/>
        </p:nvSpPr>
        <p:spPr>
          <a:xfrm>
            <a:off x="1463040" y="1627632"/>
            <a:ext cx="3017520" cy="329184"/>
          </a:xfrm>
          <a:prstGeom prst="rect">
            <a:avLst/>
          </a:prstGeom>
          <a:noFill/>
          <a:ln/>
        </p:spPr>
        <p:txBody>
          <a:bodyPr wrap="square" lIns="0" tIns="0" rIns="0" bIns="0" rtlCol="0" anchor="ctr"/>
          <a:lstStyle/>
          <a:p>
            <a:pPr marL="0" indent="0">
              <a:buNone/>
            </a:pPr>
            <a:r>
              <a:rPr lang="en-US" sz="1300" dirty="0">
                <a:solidFill>
                  <a:srgbClr val="1F2933"/>
                </a:solidFill>
                <a:latin typeface="Calibri" pitchFamily="34" charset="0"/>
                <a:ea typeface="Calibri" pitchFamily="34" charset="-122"/>
                <a:cs typeface="Calibri" pitchFamily="34" charset="-120"/>
              </a:rPr>
              <a:t>Homologation 3</a:t>
            </a:r>
            <a:endParaRPr lang="en-US" sz="1300" dirty="0"/>
          </a:p>
        </p:txBody>
      </p:sp>
      <p:sp>
        <p:nvSpPr>
          <p:cNvPr id="11" name="Text 9"/>
          <p:cNvSpPr txBox="1"/>
          <p:nvPr/>
        </p:nvSpPr>
        <p:spPr>
          <a:xfrm>
            <a:off x="4480560" y="1627632"/>
            <a:ext cx="822960" cy="329184"/>
          </a:xfrm>
          <a:prstGeom prst="rect">
            <a:avLst/>
          </a:prstGeom>
          <a:noFill/>
          <a:ln/>
        </p:spPr>
        <p:txBody>
          <a:bodyPr wrap="square" lIns="0" tIns="0" rIns="0" bIns="0" rtlCol="0" anchor="ctr"/>
          <a:lstStyle/>
          <a:p>
            <a:pPr marL="0" indent="0">
              <a:buNone/>
            </a:pPr>
            <a:r>
              <a:rPr lang="en-US" sz="1400" b="1" dirty="0">
                <a:solidFill>
                  <a:srgbClr val="0F7B8A"/>
                </a:solidFill>
                <a:latin typeface="Courier New" pitchFamily="34" charset="0"/>
                <a:ea typeface="Courier New" pitchFamily="34" charset="-122"/>
                <a:cs typeface="Courier New" pitchFamily="34" charset="-120"/>
              </a:rPr>
              <a:t>hm3</a:t>
            </a:r>
            <a:endParaRPr lang="en-US" sz="1400" dirty="0"/>
          </a:p>
        </p:txBody>
      </p:sp>
      <p:sp>
        <p:nvSpPr>
          <p:cNvPr id="12" name="Shape 10"/>
          <p:cNvSpPr/>
          <p:nvPr/>
        </p:nvSpPr>
        <p:spPr>
          <a:xfrm>
            <a:off x="457200" y="2020824"/>
            <a:ext cx="868680" cy="329184"/>
          </a:xfrm>
          <a:prstGeom prst="roundRect">
            <a:avLst>
              <a:gd name="adj" fmla="val 22222"/>
            </a:avLst>
          </a:prstGeom>
          <a:solidFill>
            <a:srgbClr val="6A4C93"/>
          </a:solidFill>
          <a:ln w="12700">
            <a:solidFill>
              <a:srgbClr val="6A4C93"/>
            </a:solidFill>
            <a:prstDash val="solid"/>
          </a:ln>
        </p:spPr>
      </p:sp>
      <p:sp>
        <p:nvSpPr>
          <p:cNvPr id="13" name="Text 11"/>
          <p:cNvSpPr txBox="1"/>
          <p:nvPr/>
        </p:nvSpPr>
        <p:spPr>
          <a:xfrm>
            <a:off x="457200" y="2020824"/>
            <a:ext cx="86868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rgn</a:t>
            </a:r>
            <a:endParaRPr lang="en-US" sz="1200" dirty="0"/>
          </a:p>
        </p:txBody>
      </p:sp>
      <p:sp>
        <p:nvSpPr>
          <p:cNvPr id="14" name="Text 12"/>
          <p:cNvSpPr txBox="1"/>
          <p:nvPr/>
        </p:nvSpPr>
        <p:spPr>
          <a:xfrm>
            <a:off x="1463040" y="2020824"/>
            <a:ext cx="3017520" cy="329184"/>
          </a:xfrm>
          <a:prstGeom prst="rect">
            <a:avLst/>
          </a:prstGeom>
          <a:noFill/>
          <a:ln/>
        </p:spPr>
        <p:txBody>
          <a:bodyPr wrap="square" lIns="0" tIns="0" rIns="0" bIns="0" rtlCol="0" anchor="ctr"/>
          <a:lstStyle/>
          <a:p>
            <a:pPr marL="0" indent="0">
              <a:buNone/>
            </a:pPr>
            <a:r>
              <a:rPr lang="en-US" sz="1300" dirty="0">
                <a:solidFill>
                  <a:srgbClr val="1F2933"/>
                </a:solidFill>
                <a:latin typeface="Calibri" pitchFamily="34" charset="0"/>
                <a:ea typeface="Calibri" pitchFamily="34" charset="-122"/>
                <a:cs typeface="Calibri" pitchFamily="34" charset="-120"/>
              </a:rPr>
              <a:t>Casablanca</a:t>
            </a:r>
            <a:endParaRPr lang="en-US" sz="1300" dirty="0"/>
          </a:p>
        </p:txBody>
      </p:sp>
      <p:sp>
        <p:nvSpPr>
          <p:cNvPr id="15" name="Text 13"/>
          <p:cNvSpPr txBox="1"/>
          <p:nvPr/>
        </p:nvSpPr>
        <p:spPr>
          <a:xfrm>
            <a:off x="4480560" y="2020824"/>
            <a:ext cx="822960" cy="329184"/>
          </a:xfrm>
          <a:prstGeom prst="rect">
            <a:avLst/>
          </a:prstGeom>
          <a:noFill/>
          <a:ln/>
        </p:spPr>
        <p:txBody>
          <a:bodyPr wrap="square" lIns="0" tIns="0" rIns="0" bIns="0" rtlCol="0" anchor="ctr"/>
          <a:lstStyle/>
          <a:p>
            <a:pPr marL="0" indent="0">
              <a:buNone/>
            </a:pPr>
            <a:r>
              <a:rPr lang="en-US" sz="1400" b="1" dirty="0">
                <a:solidFill>
                  <a:srgbClr val="6A4C93"/>
                </a:solidFill>
                <a:latin typeface="Courier New" pitchFamily="34" charset="0"/>
                <a:ea typeface="Courier New" pitchFamily="34" charset="-122"/>
                <a:cs typeface="Courier New" pitchFamily="34" charset="-120"/>
              </a:rPr>
              <a:t>cas</a:t>
            </a:r>
            <a:endParaRPr lang="en-US" sz="1400" dirty="0"/>
          </a:p>
        </p:txBody>
      </p:sp>
      <p:sp>
        <p:nvSpPr>
          <p:cNvPr id="16" name="Shape 14"/>
          <p:cNvSpPr/>
          <p:nvPr/>
        </p:nvSpPr>
        <p:spPr>
          <a:xfrm>
            <a:off x="457200" y="2414016"/>
            <a:ext cx="868680" cy="329184"/>
          </a:xfrm>
          <a:prstGeom prst="roundRect">
            <a:avLst>
              <a:gd name="adj" fmla="val 22222"/>
            </a:avLst>
          </a:prstGeom>
          <a:solidFill>
            <a:srgbClr val="C74634"/>
          </a:solidFill>
          <a:ln w="12700">
            <a:solidFill>
              <a:srgbClr val="C74634"/>
            </a:solidFill>
            <a:prstDash val="solid"/>
          </a:ln>
        </p:spPr>
      </p:sp>
      <p:sp>
        <p:nvSpPr>
          <p:cNvPr id="17" name="Text 15"/>
          <p:cNvSpPr txBox="1"/>
          <p:nvPr/>
        </p:nvSpPr>
        <p:spPr>
          <a:xfrm>
            <a:off x="457200" y="2414016"/>
            <a:ext cx="86868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type</a:t>
            </a:r>
            <a:endParaRPr lang="en-US" sz="1200" dirty="0"/>
          </a:p>
        </p:txBody>
      </p:sp>
      <p:sp>
        <p:nvSpPr>
          <p:cNvPr id="18" name="Text 16"/>
          <p:cNvSpPr txBox="1"/>
          <p:nvPr/>
        </p:nvSpPr>
        <p:spPr>
          <a:xfrm>
            <a:off x="1463040" y="2414016"/>
            <a:ext cx="3017520" cy="329184"/>
          </a:xfrm>
          <a:prstGeom prst="rect">
            <a:avLst/>
          </a:prstGeom>
          <a:noFill/>
          <a:ln/>
        </p:spPr>
        <p:txBody>
          <a:bodyPr wrap="square" lIns="0" tIns="0" rIns="0" bIns="0" rtlCol="0" anchor="ctr"/>
          <a:lstStyle/>
          <a:p>
            <a:pPr marL="0" indent="0">
              <a:buNone/>
            </a:pPr>
            <a:r>
              <a:rPr lang="en-US" sz="1300" dirty="0">
                <a:solidFill>
                  <a:srgbClr val="1F2933"/>
                </a:solidFill>
                <a:latin typeface="Calibri" pitchFamily="34" charset="0"/>
                <a:ea typeface="Calibri" pitchFamily="34" charset="-122"/>
                <a:cs typeface="Calibri" pitchFamily="34" charset="-120"/>
              </a:rPr>
              <a:t>A VM</a:t>
            </a:r>
            <a:endParaRPr lang="en-US" sz="1300" dirty="0"/>
          </a:p>
        </p:txBody>
      </p:sp>
      <p:sp>
        <p:nvSpPr>
          <p:cNvPr id="19" name="Text 17"/>
          <p:cNvSpPr txBox="1"/>
          <p:nvPr/>
        </p:nvSpPr>
        <p:spPr>
          <a:xfrm>
            <a:off x="4480560" y="2414016"/>
            <a:ext cx="822960" cy="329184"/>
          </a:xfrm>
          <a:prstGeom prst="rect">
            <a:avLst/>
          </a:prstGeom>
          <a:noFill/>
          <a:ln/>
        </p:spPr>
        <p:txBody>
          <a:bodyPr wrap="square" lIns="0" tIns="0" rIns="0" bIns="0" rtlCol="0" anchor="ctr"/>
          <a:lstStyle/>
          <a:p>
            <a:pPr marL="0" indent="0">
              <a:buNone/>
            </a:pPr>
            <a:r>
              <a:rPr lang="en-US" sz="1400" b="1" dirty="0">
                <a:solidFill>
                  <a:srgbClr val="C74634"/>
                </a:solidFill>
                <a:latin typeface="Courier New" pitchFamily="34" charset="0"/>
                <a:ea typeface="Courier New" pitchFamily="34" charset="-122"/>
                <a:cs typeface="Courier New" pitchFamily="34" charset="-120"/>
              </a:rPr>
              <a:t>vm</a:t>
            </a:r>
            <a:endParaRPr lang="en-US" sz="1400" dirty="0"/>
          </a:p>
        </p:txBody>
      </p:sp>
      <p:sp>
        <p:nvSpPr>
          <p:cNvPr id="20" name="Shape 18"/>
          <p:cNvSpPr/>
          <p:nvPr/>
        </p:nvSpPr>
        <p:spPr>
          <a:xfrm>
            <a:off x="457200" y="2807208"/>
            <a:ext cx="868680" cy="329184"/>
          </a:xfrm>
          <a:prstGeom prst="roundRect">
            <a:avLst>
              <a:gd name="adj" fmla="val 22222"/>
            </a:avLst>
          </a:prstGeom>
          <a:solidFill>
            <a:srgbClr val="B7791F"/>
          </a:solidFill>
          <a:ln w="12700">
            <a:solidFill>
              <a:srgbClr val="B7791F"/>
            </a:solidFill>
            <a:prstDash val="solid"/>
          </a:ln>
        </p:spPr>
      </p:sp>
      <p:sp>
        <p:nvSpPr>
          <p:cNvPr id="21" name="Text 19"/>
          <p:cNvSpPr txBox="1"/>
          <p:nvPr/>
        </p:nvSpPr>
        <p:spPr>
          <a:xfrm>
            <a:off x="457200" y="2807208"/>
            <a:ext cx="86868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app</a:t>
            </a:r>
            <a:endParaRPr lang="en-US" sz="1200" dirty="0"/>
          </a:p>
        </p:txBody>
      </p:sp>
      <p:sp>
        <p:nvSpPr>
          <p:cNvPr id="22" name="Text 20"/>
          <p:cNvSpPr txBox="1"/>
          <p:nvPr/>
        </p:nvSpPr>
        <p:spPr>
          <a:xfrm>
            <a:off x="1463040" y="2807208"/>
            <a:ext cx="3017520" cy="329184"/>
          </a:xfrm>
          <a:prstGeom prst="rect">
            <a:avLst/>
          </a:prstGeom>
          <a:noFill/>
          <a:ln/>
        </p:spPr>
        <p:txBody>
          <a:bodyPr wrap="square" lIns="0" tIns="0" rIns="0" bIns="0" rtlCol="0" anchor="ctr"/>
          <a:lstStyle/>
          <a:p>
            <a:pPr marL="0" indent="0">
              <a:buNone/>
            </a:pPr>
            <a:r>
              <a:rPr lang="en-US" sz="1300" dirty="0">
                <a:solidFill>
                  <a:srgbClr val="1F2933"/>
                </a:solidFill>
                <a:latin typeface="Calibri" pitchFamily="34" charset="0"/>
                <a:ea typeface="Calibri" pitchFamily="34" charset="-122"/>
                <a:cs typeface="Calibri" pitchFamily="34" charset="-120"/>
              </a:rPr>
              <a:t>Payments</a:t>
            </a:r>
            <a:endParaRPr lang="en-US" sz="1300" dirty="0"/>
          </a:p>
        </p:txBody>
      </p:sp>
      <p:sp>
        <p:nvSpPr>
          <p:cNvPr id="23" name="Text 21"/>
          <p:cNvSpPr txBox="1"/>
          <p:nvPr/>
        </p:nvSpPr>
        <p:spPr>
          <a:xfrm>
            <a:off x="4480560" y="2807208"/>
            <a:ext cx="822960" cy="329184"/>
          </a:xfrm>
          <a:prstGeom prst="rect">
            <a:avLst/>
          </a:prstGeom>
          <a:noFill/>
          <a:ln/>
        </p:spPr>
        <p:txBody>
          <a:bodyPr wrap="square" lIns="0" tIns="0" rIns="0" bIns="0" rtlCol="0" anchor="ctr"/>
          <a:lstStyle/>
          <a:p>
            <a:pPr marL="0" indent="0">
              <a:buNone/>
            </a:pPr>
            <a:r>
              <a:rPr lang="en-US" sz="1400" b="1" dirty="0">
                <a:solidFill>
                  <a:srgbClr val="B7791F"/>
                </a:solidFill>
                <a:latin typeface="Courier New" pitchFamily="34" charset="0"/>
                <a:ea typeface="Courier New" pitchFamily="34" charset="-122"/>
                <a:cs typeface="Courier New" pitchFamily="34" charset="-120"/>
              </a:rPr>
              <a:t>pay</a:t>
            </a:r>
            <a:endParaRPr lang="en-US" sz="1400" dirty="0"/>
          </a:p>
        </p:txBody>
      </p:sp>
      <p:sp>
        <p:nvSpPr>
          <p:cNvPr id="24" name="Shape 22"/>
          <p:cNvSpPr/>
          <p:nvPr/>
        </p:nvSpPr>
        <p:spPr>
          <a:xfrm>
            <a:off x="457200" y="3200400"/>
            <a:ext cx="868680" cy="329184"/>
          </a:xfrm>
          <a:prstGeom prst="roundRect">
            <a:avLst>
              <a:gd name="adj" fmla="val 22222"/>
            </a:avLst>
          </a:prstGeom>
          <a:solidFill>
            <a:srgbClr val="3A7D44"/>
          </a:solidFill>
          <a:ln w="12700">
            <a:solidFill>
              <a:srgbClr val="3A7D44"/>
            </a:solidFill>
            <a:prstDash val="solid"/>
          </a:ln>
        </p:spPr>
      </p:sp>
      <p:sp>
        <p:nvSpPr>
          <p:cNvPr id="25" name="Text 23"/>
          <p:cNvSpPr txBox="1"/>
          <p:nvPr/>
        </p:nvSpPr>
        <p:spPr>
          <a:xfrm>
            <a:off x="457200" y="3200400"/>
            <a:ext cx="86868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qual</a:t>
            </a:r>
            <a:endParaRPr lang="en-US" sz="1200" dirty="0"/>
          </a:p>
        </p:txBody>
      </p:sp>
      <p:sp>
        <p:nvSpPr>
          <p:cNvPr id="26" name="Text 24"/>
          <p:cNvSpPr txBox="1"/>
          <p:nvPr/>
        </p:nvSpPr>
        <p:spPr>
          <a:xfrm>
            <a:off x="1463040" y="3200400"/>
            <a:ext cx="3017520" cy="329184"/>
          </a:xfrm>
          <a:prstGeom prst="rect">
            <a:avLst/>
          </a:prstGeom>
          <a:noFill/>
          <a:ln/>
        </p:spPr>
        <p:txBody>
          <a:bodyPr wrap="square" lIns="0" tIns="0" rIns="0" bIns="0" rtlCol="0" anchor="ctr"/>
          <a:lstStyle/>
          <a:p>
            <a:pPr marL="0" indent="0">
              <a:buNone/>
            </a:pPr>
            <a:r>
              <a:rPr lang="en-US" sz="1300" dirty="0">
                <a:solidFill>
                  <a:srgbClr val="1F2933"/>
                </a:solidFill>
                <a:latin typeface="Calibri" pitchFamily="34" charset="0"/>
                <a:ea typeface="Calibri" pitchFamily="34" charset="-122"/>
                <a:cs typeface="Calibri" pitchFamily="34" charset="-120"/>
              </a:rPr>
              <a:t>Red Hat (required for vm)</a:t>
            </a:r>
            <a:endParaRPr lang="en-US" sz="1300" dirty="0"/>
          </a:p>
        </p:txBody>
      </p:sp>
      <p:sp>
        <p:nvSpPr>
          <p:cNvPr id="27" name="Text 25"/>
          <p:cNvSpPr txBox="1"/>
          <p:nvPr/>
        </p:nvSpPr>
        <p:spPr>
          <a:xfrm>
            <a:off x="4480560" y="3200400"/>
            <a:ext cx="822960" cy="329184"/>
          </a:xfrm>
          <a:prstGeom prst="rect">
            <a:avLst/>
          </a:prstGeom>
          <a:noFill/>
          <a:ln/>
        </p:spPr>
        <p:txBody>
          <a:bodyPr wrap="square" lIns="0" tIns="0" rIns="0" bIns="0" rtlCol="0" anchor="ctr"/>
          <a:lstStyle/>
          <a:p>
            <a:pPr marL="0" indent="0">
              <a:buNone/>
            </a:pPr>
            <a:r>
              <a:rPr lang="en-US" sz="1400" b="1" dirty="0">
                <a:solidFill>
                  <a:srgbClr val="3A7D44"/>
                </a:solidFill>
                <a:latin typeface="Courier New" pitchFamily="34" charset="0"/>
                <a:ea typeface="Courier New" pitchFamily="34" charset="-122"/>
                <a:cs typeface="Courier New" pitchFamily="34" charset="-120"/>
              </a:rPr>
              <a:t>rhel</a:t>
            </a:r>
            <a:endParaRPr lang="en-US" sz="1400" dirty="0"/>
          </a:p>
        </p:txBody>
      </p:sp>
      <p:sp>
        <p:nvSpPr>
          <p:cNvPr id="28" name="Shape 26"/>
          <p:cNvSpPr/>
          <p:nvPr/>
        </p:nvSpPr>
        <p:spPr>
          <a:xfrm>
            <a:off x="457200" y="3593592"/>
            <a:ext cx="868680" cy="329184"/>
          </a:xfrm>
          <a:prstGeom prst="roundRect">
            <a:avLst>
              <a:gd name="adj" fmla="val 22222"/>
            </a:avLst>
          </a:prstGeom>
          <a:solidFill>
            <a:srgbClr val="5B6B7F"/>
          </a:solidFill>
          <a:ln w="12700">
            <a:solidFill>
              <a:srgbClr val="5B6B7F"/>
            </a:solidFill>
            <a:prstDash val="solid"/>
          </a:ln>
        </p:spPr>
      </p:sp>
      <p:sp>
        <p:nvSpPr>
          <p:cNvPr id="29" name="Text 27"/>
          <p:cNvSpPr txBox="1"/>
          <p:nvPr/>
        </p:nvSpPr>
        <p:spPr>
          <a:xfrm>
            <a:off x="457200" y="3593592"/>
            <a:ext cx="86868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nn</a:t>
            </a:r>
            <a:endParaRPr lang="en-US" sz="1200" dirty="0"/>
          </a:p>
        </p:txBody>
      </p:sp>
      <p:sp>
        <p:nvSpPr>
          <p:cNvPr id="30" name="Text 28"/>
          <p:cNvSpPr txBox="1"/>
          <p:nvPr/>
        </p:nvSpPr>
        <p:spPr>
          <a:xfrm>
            <a:off x="1463040" y="3593592"/>
            <a:ext cx="3017520" cy="329184"/>
          </a:xfrm>
          <a:prstGeom prst="rect">
            <a:avLst/>
          </a:prstGeom>
          <a:noFill/>
          <a:ln/>
        </p:spPr>
        <p:txBody>
          <a:bodyPr wrap="square" lIns="0" tIns="0" rIns="0" bIns="0" rtlCol="0" anchor="ctr"/>
          <a:lstStyle/>
          <a:p>
            <a:pPr marL="0" indent="0">
              <a:buNone/>
            </a:pPr>
            <a:r>
              <a:rPr lang="en-US" sz="1300" dirty="0">
                <a:solidFill>
                  <a:srgbClr val="1F2933"/>
                </a:solidFill>
                <a:latin typeface="Calibri" pitchFamily="34" charset="0"/>
                <a:ea typeface="Calibri" pitchFamily="34" charset="-122"/>
                <a:cs typeface="Calibri" pitchFamily="34" charset="-120"/>
              </a:rPr>
              <a:t>First one</a:t>
            </a:r>
            <a:endParaRPr lang="en-US" sz="1300" dirty="0"/>
          </a:p>
        </p:txBody>
      </p:sp>
      <p:sp>
        <p:nvSpPr>
          <p:cNvPr id="31" name="Text 29"/>
          <p:cNvSpPr txBox="1"/>
          <p:nvPr/>
        </p:nvSpPr>
        <p:spPr>
          <a:xfrm>
            <a:off x="4480560" y="3593592"/>
            <a:ext cx="822960" cy="329184"/>
          </a:xfrm>
          <a:prstGeom prst="rect">
            <a:avLst/>
          </a:prstGeom>
          <a:noFill/>
          <a:ln/>
        </p:spPr>
        <p:txBody>
          <a:bodyPr wrap="square" lIns="0" tIns="0" rIns="0" bIns="0" rtlCol="0" anchor="ctr"/>
          <a:lstStyle/>
          <a:p>
            <a:pPr marL="0" indent="0">
              <a:buNone/>
            </a:pPr>
            <a:r>
              <a:rPr lang="en-US" sz="1400" b="1" dirty="0">
                <a:solidFill>
                  <a:srgbClr val="5B6B7F"/>
                </a:solidFill>
                <a:latin typeface="Courier New" pitchFamily="34" charset="0"/>
                <a:ea typeface="Courier New" pitchFamily="34" charset="-122"/>
                <a:cs typeface="Courier New" pitchFamily="34" charset="-120"/>
              </a:rPr>
              <a:t>01</a:t>
            </a:r>
            <a:endParaRPr lang="en-US" sz="1400" dirty="0"/>
          </a:p>
        </p:txBody>
      </p:sp>
      <p:sp>
        <p:nvSpPr>
          <p:cNvPr id="32" name="Shape 30"/>
          <p:cNvSpPr/>
          <p:nvPr/>
        </p:nvSpPr>
        <p:spPr>
          <a:xfrm>
            <a:off x="5577840" y="1234440"/>
            <a:ext cx="3108960" cy="2651760"/>
          </a:xfrm>
          <a:prstGeom prst="roundRect">
            <a:avLst>
              <a:gd name="adj" fmla="val 2069"/>
            </a:avLst>
          </a:prstGeom>
          <a:solidFill>
            <a:srgbClr val="14213D"/>
          </a:solidFill>
          <a:ln w="12700">
            <a:solidFill>
              <a:srgbClr val="14213D"/>
            </a:solidFill>
            <a:prstDash val="solid"/>
          </a:ln>
        </p:spPr>
      </p:sp>
      <p:sp>
        <p:nvSpPr>
          <p:cNvPr id="33" name="Text 31"/>
          <p:cNvSpPr txBox="1"/>
          <p:nvPr/>
        </p:nvSpPr>
        <p:spPr>
          <a:xfrm>
            <a:off x="5760720" y="1371600"/>
            <a:ext cx="2743200" cy="320040"/>
          </a:xfrm>
          <a:prstGeom prst="rect">
            <a:avLst/>
          </a:prstGeom>
          <a:noFill/>
          <a:ln/>
        </p:spPr>
        <p:txBody>
          <a:bodyPr wrap="square" lIns="0" tIns="0" rIns="0" bIns="0"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Result</a:t>
            </a:r>
            <a:endParaRPr lang="en-US" sz="1400" dirty="0"/>
          </a:p>
        </p:txBody>
      </p:sp>
      <p:sp>
        <p:nvSpPr>
          <p:cNvPr id="34" name="Text 32"/>
          <p:cNvSpPr txBox="1"/>
          <p:nvPr/>
        </p:nvSpPr>
        <p:spPr>
          <a:xfrm>
            <a:off x="5760720" y="1783080"/>
            <a:ext cx="2788920" cy="731520"/>
          </a:xfrm>
          <a:prstGeom prst="rect">
            <a:avLst/>
          </a:prstGeom>
          <a:noFill/>
          <a:ln/>
        </p:spPr>
        <p:txBody>
          <a:bodyPr wrap="square" lIns="0" tIns="0" rIns="0" bIns="0" rtlCol="0" anchor="t"/>
          <a:lstStyle/>
          <a:p>
            <a:pPr marL="0" indent="0">
              <a:buNone/>
            </a:pPr>
            <a:r>
              <a:rPr lang="en-US" sz="1400" b="1" dirty="0">
                <a:solidFill>
                  <a:srgbClr val="FFFFFF"/>
                </a:solidFill>
                <a:latin typeface="Courier New" pitchFamily="34" charset="0"/>
                <a:ea typeface="Courier New" pitchFamily="34" charset="-122"/>
                <a:cs typeface="Courier New" pitchFamily="34" charset="-120"/>
              </a:rPr>
              <a:t>cmr-hm3-cas-vm-pay-rhel-01</a:t>
            </a:r>
            <a:endParaRPr lang="en-US" sz="1400" dirty="0"/>
          </a:p>
        </p:txBody>
      </p:sp>
      <p:sp>
        <p:nvSpPr>
          <p:cNvPr id="35" name="Text 33"/>
          <p:cNvSpPr txBox="1"/>
          <p:nvPr/>
        </p:nvSpPr>
        <p:spPr>
          <a:xfrm>
            <a:off x="5760720" y="2606040"/>
            <a:ext cx="2788920" cy="1188720"/>
          </a:xfrm>
          <a:prstGeom prst="rect">
            <a:avLst/>
          </a:prstGeom>
          <a:noFill/>
          <a:ln/>
        </p:spPr>
        <p:txBody>
          <a:bodyPr wrap="square" lIns="0" tIns="0" rIns="0" bIns="0" rtlCol="0" anchor="t"/>
          <a:lstStyle/>
          <a:p>
            <a:pPr marL="0" indent="0">
              <a:buNone/>
            </a:pPr>
            <a:r>
              <a:rPr lang="en-US" sz="1100" dirty="0">
                <a:solidFill>
                  <a:srgbClr val="CADCFC"/>
                </a:solidFill>
                <a:latin typeface="Calibri" pitchFamily="34" charset="0"/>
                <a:ea typeface="Calibri" pitchFamily="34" charset="-122"/>
                <a:cs typeface="Calibri" pitchFamily="34" charset="-120"/>
              </a:rPr>
              <a:t>Linux hostname: same as the name.</a:t>
            </a:r>
            <a:endParaRPr lang="en-US" sz="1100" dirty="0"/>
          </a:p>
          <a:p>
            <a:pPr marL="0" indent="0">
              <a:buNone/>
            </a:pPr>
            <a:r>
              <a:rPr lang="en-US" sz="1100" dirty="0">
                <a:solidFill>
                  <a:srgbClr val="CADCFC"/>
                </a:solidFill>
                <a:latin typeface="Calibri" pitchFamily="34" charset="0"/>
                <a:ea typeface="Calibri" pitchFamily="34" charset="-122"/>
                <a:cs typeface="Calibri" pitchFamily="34" charset="-120"/>
              </a:rPr>
              <a:t>Windows hostname (15 chars) and other short forms are generated automatically.</a:t>
            </a:r>
            <a:endParaRPr lang="en-US" sz="1100" dirty="0"/>
          </a:p>
        </p:txBody>
      </p:sp>
      <p:sp>
        <p:nvSpPr>
          <p:cNvPr id="36" name="Text 34"/>
          <p:cNvSpPr txBox="1"/>
          <p:nvPr/>
        </p:nvSpPr>
        <p:spPr>
          <a:xfrm>
            <a:off x="457200" y="4800600"/>
            <a:ext cx="4572000" cy="228600"/>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OCI Naming Standard  ·  cmr</a:t>
            </a:r>
            <a:endParaRPr lang="en-US" sz="900" dirty="0"/>
          </a:p>
        </p:txBody>
      </p:sp>
      <p:sp>
        <p:nvSpPr>
          <p:cNvPr id="37" name="Text 35"/>
          <p:cNvSpPr txBox="1"/>
          <p:nvPr/>
        </p:nvSpPr>
        <p:spPr>
          <a:xfrm>
            <a:off x="8229600" y="4800600"/>
            <a:ext cx="457200" cy="228600"/>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4213D"/>
                </a:solidFill>
                <a:latin typeface="Calibri" pitchFamily="34" charset="0"/>
                <a:ea typeface="Calibri" pitchFamily="34" charset="-122"/>
                <a:cs typeface="Calibri" pitchFamily="34" charset="-120"/>
              </a:rPr>
              <a:t>Read a name like a sentence</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218688"/>
        </p:xfrm>
        <a:graphic>
          <a:graphicData uri="http://schemas.openxmlformats.org/drawingml/2006/table">
            <a:tbl>
              <a:tblPr/>
              <a:tblGrid>
                <a:gridCol w="329184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tblGrid>
              <a:tr h="40233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4213D"/>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tells you</a:t>
                      </a:r>
                      <a:endParaRPr lang="en-US" sz="12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02336">
                <a:tc>
                  <a:txBody>
                    <a:bodyPr/>
                    <a:lstStyle/>
                    <a:p>
                      <a:pPr marL="0" indent="0">
                        <a:buNone/>
                      </a:pPr>
                      <a:r>
                        <a:rPr lang="en-US" sz="1200" dirty="0">
                          <a:solidFill>
                            <a:srgbClr val="1F2933"/>
                          </a:solidFill>
                          <a:latin typeface="Courier New" pitchFamily="34" charset="0"/>
                          <a:ea typeface="Courier New" pitchFamily="34" charset="-122"/>
                          <a:cs typeface="Courier New" pitchFamily="34" charset="-120"/>
                        </a:rPr>
                        <a:t>cmr-prd-cas-snt-cbs-db-01</a:t>
                      </a:r>
                      <a:endParaRPr lang="en-US" sz="1200" dirty="0">
                        <a:latin typeface="Courier New" charset="0"/>
                        <a:ea typeface="Courier New" charset="0"/>
                        <a:cs typeface="Courier New"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Production subnet for core banking databases, Casablanca</a:t>
                      </a:r>
                      <a:endParaRPr lang="en-US" sz="12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200" dirty="0">
                          <a:solidFill>
                            <a:srgbClr val="1F2933"/>
                          </a:solidFill>
                          <a:latin typeface="Courier New" pitchFamily="34" charset="0"/>
                          <a:ea typeface="Courier New" pitchFamily="34" charset="-122"/>
                          <a:cs typeface="Courier New" pitchFamily="34" charset="-120"/>
                        </a:rPr>
                        <a:t>cmr-prd-jnb-adb-pay-atp-01</a:t>
                      </a:r>
                      <a:endParaRPr lang="en-US" sz="1200" dirty="0">
                        <a:latin typeface="Courier New" charset="0"/>
                        <a:ea typeface="Courier New" charset="0"/>
                        <a:cs typeface="Courier New"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4F5F7"/>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Production payments ATP database, DR copy in Johannesburg</a:t>
                      </a:r>
                      <a:endParaRPr lang="en-US" sz="12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402336">
                <a:tc>
                  <a:txBody>
                    <a:bodyPr/>
                    <a:lstStyle/>
                    <a:p>
                      <a:pPr marL="0" indent="0">
                        <a:buNone/>
                      </a:pPr>
                      <a:r>
                        <a:rPr lang="en-US" sz="1200" dirty="0">
                          <a:solidFill>
                            <a:srgbClr val="1F2933"/>
                          </a:solidFill>
                          <a:latin typeface="Courier New" pitchFamily="34" charset="0"/>
                          <a:ea typeface="Courier New" pitchFamily="34" charset="-122"/>
                          <a:cs typeface="Courier New" pitchFamily="34" charset="-120"/>
                        </a:rPr>
                        <a:t>cmr-hm1-cas-lb-pay-ext-01</a:t>
                      </a:r>
                      <a:endParaRPr lang="en-US" sz="1200" dirty="0">
                        <a:latin typeface="Courier New" charset="0"/>
                        <a:ea typeface="Courier New" charset="0"/>
                        <a:cs typeface="Courier New"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Homologation 1 internet-facing load balancer for payments</a:t>
                      </a:r>
                      <a:endParaRPr lang="en-US" sz="12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200" dirty="0">
                          <a:solidFill>
                            <a:srgbClr val="1F2933"/>
                          </a:solidFill>
                          <a:latin typeface="Courier New" pitchFamily="34" charset="0"/>
                          <a:ea typeface="Courier New" pitchFamily="34" charset="-122"/>
                          <a:cs typeface="Courier New" pitchFamily="34" charset="-120"/>
                        </a:rPr>
                        <a:t>cmr-pre-cas-bkt-cbs-bkp-01</a:t>
                      </a:r>
                      <a:endParaRPr lang="en-US" sz="1200" dirty="0">
                        <a:latin typeface="Courier New" charset="0"/>
                        <a:ea typeface="Courier New" charset="0"/>
                        <a:cs typeface="Courier New"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4F5F7"/>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Pre-production backup bucket for core banking</a:t>
                      </a:r>
                      <a:endParaRPr lang="en-US" sz="12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4F5F7"/>
                    </a:solidFill>
                  </a:tcPr>
                </a:tc>
                <a:extLst>
                  <a:ext uri="{0D108BD9-81ED-4DB2-BD59-A6C34878D82A}">
                    <a16:rowId xmlns:a16="http://schemas.microsoft.com/office/drawing/2014/main" val="10004"/>
                  </a:ext>
                </a:extLst>
              </a:tr>
              <a:tr h="402336">
                <a:tc>
                  <a:txBody>
                    <a:bodyPr/>
                    <a:lstStyle/>
                    <a:p>
                      <a:pPr marL="0" indent="0">
                        <a:buNone/>
                      </a:pPr>
                      <a:r>
                        <a:rPr lang="en-US" sz="1200" dirty="0">
                          <a:solidFill>
                            <a:srgbClr val="1F2933"/>
                          </a:solidFill>
                          <a:latin typeface="Courier New" pitchFamily="34" charset="0"/>
                          <a:ea typeface="Courier New" pitchFamily="34" charset="-122"/>
                          <a:cs typeface="Courier New" pitchFamily="34" charset="-120"/>
                        </a:rPr>
                        <a:t>cmr-dev-cas-oke-pay-01</a:t>
                      </a:r>
                      <a:endParaRPr lang="en-US" sz="1200" dirty="0">
                        <a:latin typeface="Courier New" charset="0"/>
                        <a:ea typeface="Courier New" charset="0"/>
                        <a:cs typeface="Courier New"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Development Kubernetes cluster for payments</a:t>
                      </a:r>
                      <a:endParaRPr lang="en-US" sz="12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1200" dirty="0">
                          <a:solidFill>
                            <a:srgbClr val="1F2933"/>
                          </a:solidFill>
                          <a:latin typeface="Courier New" pitchFamily="34" charset="0"/>
                          <a:ea typeface="Courier New" pitchFamily="34" charset="-122"/>
                          <a:cs typeface="Courier New" pitchFamily="34" charset="-120"/>
                        </a:rPr>
                        <a:t>cmr-npd-cas-vcn-hub-01</a:t>
                      </a:r>
                      <a:endParaRPr lang="en-US" sz="1200" dirty="0">
                        <a:latin typeface="Courier New" charset="0"/>
                        <a:ea typeface="Courier New" charset="0"/>
                        <a:cs typeface="Courier New"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4F5F7"/>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Non-production hub network shared by dev and the hm environments</a:t>
                      </a:r>
                      <a:endParaRPr lang="en-US" sz="12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4F5F7"/>
                    </a:solidFill>
                  </a:tcPr>
                </a:tc>
                <a:extLst>
                  <a:ext uri="{0D108BD9-81ED-4DB2-BD59-A6C34878D82A}">
                    <a16:rowId xmlns:a16="http://schemas.microsoft.com/office/drawing/2014/main" val="10006"/>
                  </a:ext>
                </a:extLst>
              </a:tr>
              <a:tr h="402336">
                <a:tc>
                  <a:txBody>
                    <a:bodyPr/>
                    <a:lstStyle/>
                    <a:p>
                      <a:pPr marL="0" indent="0">
                        <a:buNone/>
                      </a:pPr>
                      <a:r>
                        <a:rPr lang="en-US" sz="1200" dirty="0">
                          <a:solidFill>
                            <a:srgbClr val="1F2933"/>
                          </a:solidFill>
                          <a:latin typeface="Courier New" pitchFamily="34" charset="0"/>
                          <a:ea typeface="Courier New" pitchFamily="34" charset="-122"/>
                          <a:cs typeface="Courier New" pitchFamily="34" charset="-120"/>
                        </a:rPr>
                        <a:t>cmr-prd-grp-cbs-oper-01</a:t>
                      </a:r>
                      <a:endParaRPr lang="en-US" sz="1200" dirty="0">
                        <a:latin typeface="Courier New" charset="0"/>
                        <a:ea typeface="Courier New" charset="0"/>
                        <a:cs typeface="Courier New"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Production core banking operators group (global: no region)</a:t>
                      </a:r>
                      <a:endParaRPr lang="en-US" sz="12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Text 1"/>
          <p:cNvSpPr txBox="1"/>
          <p:nvPr/>
        </p:nvSpPr>
        <p:spPr>
          <a:xfrm>
            <a:off x="457200" y="4800600"/>
            <a:ext cx="4572000" cy="228600"/>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OCI Naming Standard  ·  cmr</a:t>
            </a:r>
            <a:endParaRPr lang="en-US" sz="900" dirty="0"/>
          </a:p>
        </p:txBody>
      </p:sp>
      <p:sp>
        <p:nvSpPr>
          <p:cNvPr id="5" name="Text 2"/>
          <p:cNvSpPr txBox="1"/>
          <p:nvPr/>
        </p:nvSpPr>
        <p:spPr>
          <a:xfrm>
            <a:off x="8229600" y="4800600"/>
            <a:ext cx="457200" cy="228600"/>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4213D"/>
                </a:solidFill>
                <a:latin typeface="Calibri" pitchFamily="34" charset="0"/>
                <a:ea typeface="Calibri" pitchFamily="34" charset="-122"/>
                <a:cs typeface="Calibri" pitchFamily="34" charset="-120"/>
              </a:rPr>
              <a:t>Some OCI fields need shorter names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300" dirty="0">
                <a:solidFill>
                  <a:srgbClr val="5B6B7F"/>
                </a:solidFill>
                <a:latin typeface="Calibri" pitchFamily="34" charset="0"/>
                <a:ea typeface="Calibri" pitchFamily="34" charset="-122"/>
                <a:cs typeface="Calibri" pitchFamily="34" charset="-120"/>
              </a:rPr>
              <a:t>You do not type these: the naming module generates them from the same fields</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2304288"/>
        </p:xfrm>
        <a:graphic>
          <a:graphicData uri="http://schemas.openxmlformats.org/drawingml/2006/table">
            <a:tbl>
              <a:tblPr/>
              <a:tblGrid>
                <a:gridCol w="21945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Where</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4213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OCI limit</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4213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Generated form</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4213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Bastion, ADB database name</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letters &amp; digits only</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Name without hyphens</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ourier New" pitchFamily="34" charset="0"/>
                          <a:ea typeface="Courier New" pitchFamily="34" charset="-122"/>
                          <a:cs typeface="Courier New" pitchFamily="34" charset="-120"/>
                        </a:rPr>
                        <a:t>cmrprdcasadbpayatp01</a:t>
                      </a:r>
                      <a:endParaRPr lang="en-US" sz="1100" dirty="0">
                        <a:latin typeface="Courier New" charset="0"/>
                        <a:ea typeface="Courier New" charset="0"/>
                        <a:cs typeface="Courier New"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VCN DNS label, Windows host</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4F5F7"/>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15 characters</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4F5F7"/>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org + env letter + rgn + app + nn</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4F5F7"/>
                    </a:solidFill>
                  </a:tcPr>
                </a:tc>
                <a:tc>
                  <a:txBody>
                    <a:bodyPr/>
                    <a:lstStyle/>
                    <a:p>
                      <a:pPr marL="0" indent="0">
                        <a:buNone/>
                      </a:pPr>
                      <a:r>
                        <a:rPr lang="en-US" sz="1100" dirty="0">
                          <a:solidFill>
                            <a:srgbClr val="1F2933"/>
                          </a:solidFill>
                          <a:latin typeface="Courier New" pitchFamily="34" charset="0"/>
                          <a:ea typeface="Courier New" pitchFamily="34" charset="-122"/>
                          <a:cs typeface="Courier New" pitchFamily="34" charset="-120"/>
                        </a:rPr>
                        <a:t>cmrpcascbs01</a:t>
                      </a:r>
                      <a:endParaRPr lang="en-US" sz="1100" dirty="0">
                        <a:latin typeface="Courier New" charset="0"/>
                        <a:ea typeface="Courier New" charset="0"/>
                        <a:cs typeface="Courier New"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Exadata host prefix / cluster</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12 / 11 characters</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org + env letter + rgn + x + nn</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ourier New" pitchFamily="34" charset="0"/>
                          <a:ea typeface="Courier New" pitchFamily="34" charset="-122"/>
                          <a:cs typeface="Courier New" pitchFamily="34" charset="-120"/>
                        </a:rPr>
                        <a:t>cmrpcasx01</a:t>
                      </a:r>
                      <a:endParaRPr lang="en-US" sz="1100" dirty="0">
                        <a:latin typeface="Courier New" charset="0"/>
                        <a:ea typeface="Courier New" charset="0"/>
                        <a:cs typeface="Courier New"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Oracle DB_NAME</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4F5F7"/>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8 characters</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4F5F7"/>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app + env letter + n</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4F5F7"/>
                    </a:solidFill>
                  </a:tcPr>
                </a:tc>
                <a:tc>
                  <a:txBody>
                    <a:bodyPr/>
                    <a:lstStyle/>
                    <a:p>
                      <a:pPr marL="0" indent="0">
                        <a:buNone/>
                      </a:pPr>
                      <a:r>
                        <a:rPr lang="en-US" sz="1100" dirty="0">
                          <a:solidFill>
                            <a:srgbClr val="1F2933"/>
                          </a:solidFill>
                          <a:latin typeface="Courier New" pitchFamily="34" charset="0"/>
                          <a:ea typeface="Courier New" pitchFamily="34" charset="-122"/>
                          <a:cs typeface="Courier New" pitchFamily="34" charset="-120"/>
                        </a:rPr>
                        <a:t>cbsp1</a:t>
                      </a:r>
                      <a:endParaRPr lang="en-US" sz="1100" dirty="0">
                        <a:latin typeface="Courier New" charset="0"/>
                        <a:ea typeface="Courier New" charset="0"/>
                        <a:cs typeface="Courier New"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4F5F7"/>
                    </a:solidFill>
                  </a:tcPr>
                </a:tc>
                <a:extLst>
                  <a:ext uri="{0D108BD9-81ED-4DB2-BD59-A6C34878D82A}">
                    <a16:rowId xmlns:a16="http://schemas.microsoft.com/office/drawing/2014/main" val="10004"/>
                  </a:ext>
                </a:extLst>
              </a:tr>
              <a:tr h="384048">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DB_UNIQUE_NAME</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30 characters</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DB_NAME_org_rgn</a:t>
                      </a:r>
                      <a:endParaRPr lang="en-US" sz="1100" dirty="0">
                        <a:latin typeface="Calibri" charset="0"/>
                        <a:ea typeface="Calibri" charset="0"/>
                        <a:cs typeface="Calibri"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ourier New" pitchFamily="34" charset="0"/>
                          <a:ea typeface="Courier New" pitchFamily="34" charset="-122"/>
                          <a:cs typeface="Courier New" pitchFamily="34" charset="-120"/>
                        </a:rPr>
                        <a:t>cbsp1_cmr_cas</a:t>
                      </a:r>
                      <a:endParaRPr lang="en-US" sz="1100" dirty="0">
                        <a:latin typeface="Courier New" charset="0"/>
                        <a:ea typeface="Courier New" charset="0"/>
                        <a:cs typeface="Courier New" charset="0"/>
                      </a:endParaRPr>
                    </a:p>
                  </a:txBody>
                  <a:tcPr marL="45720" marR="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457200" y="3840480"/>
            <a:ext cx="8229600" cy="320040"/>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Env letters: p = prd  ·  s = pre  ·  1–6 = hm1–hm6  ·  d = dev  ·  n = npd</a:t>
            </a:r>
            <a:endParaRPr lang="en-US" sz="1200" dirty="0"/>
          </a:p>
        </p:txBody>
      </p:sp>
      <p:sp>
        <p:nvSpPr>
          <p:cNvPr id="6" name="Text 3"/>
          <p:cNvSpPr txBox="1"/>
          <p:nvPr/>
        </p:nvSpPr>
        <p:spPr>
          <a:xfrm>
            <a:off x="457200" y="4800600"/>
            <a:ext cx="4572000" cy="228600"/>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OCI Naming Standard  ·  cmr</a:t>
            </a:r>
            <a:endParaRPr lang="en-US" sz="900" dirty="0"/>
          </a:p>
        </p:txBody>
      </p:sp>
      <p:sp>
        <p:nvSpPr>
          <p:cNvPr id="7" name="Text 4"/>
          <p:cNvSpPr txBox="1"/>
          <p:nvPr/>
        </p:nvSpPr>
        <p:spPr>
          <a:xfrm>
            <a:off x="8229600" y="4800600"/>
            <a:ext cx="457200" cy="228600"/>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4213D"/>
                </a:solidFill>
                <a:latin typeface="Calibri" pitchFamily="34" charset="0"/>
                <a:ea typeface="Calibri" pitchFamily="34" charset="-122"/>
                <a:cs typeface="Calibri" pitchFamily="34" charset="-120"/>
              </a:rPr>
              <a:t>Compartments follow a different, simpler rule</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300" dirty="0">
                <a:solidFill>
                  <a:srgbClr val="5B6B7F"/>
                </a:solidFill>
                <a:latin typeface="Calibri" pitchFamily="34" charset="0"/>
                <a:ea typeface="Calibri" pitchFamily="34" charset="-122"/>
                <a:cs typeface="Calibri" pitchFamily="34" charset="-120"/>
              </a:rPr>
              <a:t>A compartment is a folder: its name is its path</a:t>
            </a:r>
            <a:endParaRPr lang="en-US" sz="1300" dirty="0"/>
          </a:p>
        </p:txBody>
      </p:sp>
      <p:sp>
        <p:nvSpPr>
          <p:cNvPr id="4" name="Shape 2"/>
          <p:cNvSpPr/>
          <p:nvPr/>
        </p:nvSpPr>
        <p:spPr>
          <a:xfrm>
            <a:off x="457200" y="1280160"/>
            <a:ext cx="4480560" cy="3246120"/>
          </a:xfrm>
          <a:prstGeom prst="roundRect">
            <a:avLst>
              <a:gd name="adj" fmla="val 1690"/>
            </a:avLst>
          </a:prstGeom>
          <a:solidFill>
            <a:srgbClr val="EEF1F6"/>
          </a:solidFill>
          <a:ln w="12700">
            <a:solidFill>
              <a:srgbClr val="EEF1F6"/>
            </a:solidFill>
            <a:prstDash val="solid"/>
          </a:ln>
        </p:spPr>
      </p:sp>
      <p:sp>
        <p:nvSpPr>
          <p:cNvPr id="5" name="Text 3"/>
          <p:cNvSpPr txBox="1"/>
          <p:nvPr/>
        </p:nvSpPr>
        <p:spPr>
          <a:xfrm>
            <a:off x="640080" y="1371600"/>
            <a:ext cx="4206240" cy="3108960"/>
          </a:xfrm>
          <a:prstGeom prst="rect">
            <a:avLst/>
          </a:prstGeom>
          <a:noFill/>
          <a:ln/>
        </p:spPr>
        <p:txBody>
          <a:bodyPr wrap="square" lIns="0" tIns="0" rIns="0" bIns="0" rtlCol="0" anchor="t"/>
          <a:lstStyle/>
          <a:p>
            <a:pPr marL="0" indent="0">
              <a:buNone/>
            </a:pPr>
            <a:r>
              <a:rPr lang="en-US" sz="1100" dirty="0">
                <a:solidFill>
                  <a:srgbClr val="14213D"/>
                </a:solidFill>
                <a:latin typeface="Courier New" pitchFamily="34" charset="0"/>
                <a:ea typeface="Courier New" pitchFamily="34" charset="-122"/>
                <a:cs typeface="Courier New" pitchFamily="34" charset="-120"/>
              </a:rPr>
              <a:t>cmr</a:t>
            </a:r>
            <a:endParaRPr lang="en-US" sz="1100" dirty="0"/>
          </a:p>
          <a:p>
            <a:pPr marL="0" indent="0">
              <a:buNone/>
            </a:pPr>
            <a:r>
              <a:rPr lang="en-US" sz="1100" dirty="0">
                <a:solidFill>
                  <a:srgbClr val="14213D"/>
                </a:solidFill>
                <a:latin typeface="Courier New" pitchFamily="34" charset="0"/>
                <a:ea typeface="Courier New" pitchFamily="34" charset="-122"/>
                <a:cs typeface="Courier New" pitchFamily="34" charset="-120"/>
              </a:rPr>
              <a:t> ├─ cmr-soc   cmr-log   cmr-net</a:t>
            </a:r>
            <a:endParaRPr lang="en-US" sz="1100" dirty="0"/>
          </a:p>
          <a:p>
            <a:pPr marL="0" indent="0">
              <a:buNone/>
            </a:pPr>
            <a:r>
              <a:rPr lang="en-US" sz="1100" dirty="0">
                <a:solidFill>
                  <a:srgbClr val="14213D"/>
                </a:solidFill>
                <a:latin typeface="Courier New" pitchFamily="34" charset="0"/>
                <a:ea typeface="Courier New" pitchFamily="34" charset="-122"/>
                <a:cs typeface="Courier New" pitchFamily="34" charset="-120"/>
              </a:rPr>
              <a:t> ├─ cmr-plat  cmr-cyv</a:t>
            </a:r>
            <a:endParaRPr lang="en-US" sz="1100" dirty="0"/>
          </a:p>
          <a:p>
            <a:pPr marL="0" indent="0">
              <a:buNone/>
            </a:pPr>
            <a:r>
              <a:rPr lang="en-US" sz="1100" dirty="0">
                <a:solidFill>
                  <a:srgbClr val="14213D"/>
                </a:solidFill>
                <a:latin typeface="Courier New" pitchFamily="34" charset="0"/>
                <a:ea typeface="Courier New" pitchFamily="34" charset="-122"/>
                <a:cs typeface="Courier New" pitchFamily="34" charset="-120"/>
              </a:rPr>
              <a:t> ├─ cmr-prd</a:t>
            </a:r>
            <a:endParaRPr lang="en-US" sz="1100" dirty="0"/>
          </a:p>
          <a:p>
            <a:pPr marL="0" indent="0">
              <a:buNone/>
            </a:pPr>
            <a:r>
              <a:rPr lang="en-US" sz="1100" dirty="0">
                <a:solidFill>
                  <a:srgbClr val="14213D"/>
                </a:solidFill>
                <a:latin typeface="Courier New" pitchFamily="34" charset="0"/>
                <a:ea typeface="Courier New" pitchFamily="34" charset="-122"/>
                <a:cs typeface="Courier New" pitchFamily="34" charset="-120"/>
              </a:rPr>
              <a:t> │   ├─ cmr-prd-cbs</a:t>
            </a:r>
            <a:endParaRPr lang="en-US" sz="1100" dirty="0"/>
          </a:p>
          <a:p>
            <a:pPr marL="0" indent="0">
              <a:buNone/>
            </a:pPr>
            <a:r>
              <a:rPr lang="en-US" sz="1100" dirty="0">
                <a:solidFill>
                  <a:srgbClr val="14213D"/>
                </a:solidFill>
                <a:latin typeface="Courier New" pitchFamily="34" charset="0"/>
                <a:ea typeface="Courier New" pitchFamily="34" charset="-122"/>
                <a:cs typeface="Courier New" pitchFamily="34" charset="-120"/>
              </a:rPr>
              <a:t> │   └─ cmr-prd-pay</a:t>
            </a:r>
            <a:endParaRPr lang="en-US" sz="1100" dirty="0"/>
          </a:p>
          <a:p>
            <a:pPr marL="0" indent="0">
              <a:buNone/>
            </a:pPr>
            <a:r>
              <a:rPr lang="en-US" sz="1100" dirty="0">
                <a:solidFill>
                  <a:srgbClr val="14213D"/>
                </a:solidFill>
                <a:latin typeface="Courier New" pitchFamily="34" charset="0"/>
                <a:ea typeface="Courier New" pitchFamily="34" charset="-122"/>
                <a:cs typeface="Courier New" pitchFamily="34" charset="-120"/>
              </a:rPr>
              <a:t> ├─ cmr-pre</a:t>
            </a:r>
            <a:endParaRPr lang="en-US" sz="1100" dirty="0"/>
          </a:p>
          <a:p>
            <a:pPr marL="0" indent="0">
              <a:buNone/>
            </a:pPr>
            <a:r>
              <a:rPr lang="en-US" sz="1100" dirty="0">
                <a:solidFill>
                  <a:srgbClr val="14213D"/>
                </a:solidFill>
                <a:latin typeface="Courier New" pitchFamily="34" charset="0"/>
                <a:ea typeface="Courier New" pitchFamily="34" charset="-122"/>
                <a:cs typeface="Courier New" pitchFamily="34" charset="-120"/>
              </a:rPr>
              <a:t> │   └─ cmr-pre-cbs …</a:t>
            </a:r>
            <a:endParaRPr lang="en-US" sz="1100" dirty="0"/>
          </a:p>
          <a:p>
            <a:pPr marL="0" indent="0">
              <a:buNone/>
            </a:pPr>
            <a:r>
              <a:rPr lang="en-US" sz="1100" dirty="0">
                <a:solidFill>
                  <a:srgbClr val="14213D"/>
                </a:solidFill>
                <a:latin typeface="Courier New" pitchFamily="34" charset="0"/>
                <a:ea typeface="Courier New" pitchFamily="34" charset="-122"/>
                <a:cs typeface="Courier New" pitchFamily="34" charset="-120"/>
              </a:rPr>
              <a:t> └─ cmr-npd   (dev + hm1–hm6)</a:t>
            </a:r>
            <a:endParaRPr lang="en-US" sz="1100" dirty="0"/>
          </a:p>
          <a:p>
            <a:pPr marL="0" indent="0">
              <a:buNone/>
            </a:pPr>
            <a:r>
              <a:rPr lang="en-US" sz="1100" dirty="0">
                <a:solidFill>
                  <a:srgbClr val="14213D"/>
                </a:solidFill>
                <a:latin typeface="Courier New" pitchFamily="34" charset="0"/>
                <a:ea typeface="Courier New" pitchFamily="34" charset="-122"/>
                <a:cs typeface="Courier New" pitchFamily="34" charset="-120"/>
              </a:rPr>
              <a:t>     ├─ cmr-npd-cbs</a:t>
            </a:r>
            <a:endParaRPr lang="en-US" sz="1100" dirty="0"/>
          </a:p>
          <a:p>
            <a:pPr marL="0" indent="0">
              <a:buNone/>
            </a:pPr>
            <a:r>
              <a:rPr lang="en-US" sz="1100" dirty="0">
                <a:solidFill>
                  <a:srgbClr val="14213D"/>
                </a:solidFill>
                <a:latin typeface="Courier New" pitchFamily="34" charset="0"/>
                <a:ea typeface="Courier New" pitchFamily="34" charset="-122"/>
                <a:cs typeface="Courier New" pitchFamily="34" charset="-120"/>
              </a:rPr>
              <a:t>     │   └─ cmr-npd-cbs-hm3 (optional)</a:t>
            </a:r>
            <a:endParaRPr lang="en-US" sz="1100" dirty="0"/>
          </a:p>
          <a:p>
            <a:pPr marL="0" indent="0">
              <a:buNone/>
            </a:pPr>
            <a:r>
              <a:rPr lang="en-US" sz="1100" dirty="0">
                <a:solidFill>
                  <a:srgbClr val="14213D"/>
                </a:solidFill>
                <a:latin typeface="Courier New" pitchFamily="34" charset="0"/>
                <a:ea typeface="Courier New" pitchFamily="34" charset="-122"/>
                <a:cs typeface="Courier New" pitchFamily="34" charset="-120"/>
              </a:rPr>
              <a:t>     └─ cmr-npd-pay</a:t>
            </a:r>
            <a:endParaRPr lang="en-US" sz="1100" dirty="0"/>
          </a:p>
        </p:txBody>
      </p:sp>
      <p:sp>
        <p:nvSpPr>
          <p:cNvPr id="6" name="Text 4"/>
          <p:cNvSpPr txBox="1"/>
          <p:nvPr/>
        </p:nvSpPr>
        <p:spPr>
          <a:xfrm>
            <a:off x="5212080" y="1325880"/>
            <a:ext cx="3474720" cy="3108960"/>
          </a:xfrm>
          <a:prstGeom prst="rect">
            <a:avLst/>
          </a:prstGeom>
          <a:noFill/>
          <a:ln/>
        </p:spPr>
        <p:txBody>
          <a:bodyPr wrap="square" lIns="0" tIns="0" rIns="0" bIns="0" rtlCol="0" anchor="t"/>
          <a:lstStyle/>
          <a:p>
            <a:pPr marL="0" indent="0">
              <a:spcAft>
                <a:spcPts val="800"/>
              </a:spcAft>
              <a:buNone/>
            </a:pPr>
            <a:r>
              <a:rPr lang="en-US" sz="1300" b="1" dirty="0">
                <a:solidFill>
                  <a:srgbClr val="1F2933"/>
                </a:solidFill>
                <a:latin typeface="Courier New" pitchFamily="34" charset="0"/>
                <a:ea typeface="Courier New" pitchFamily="34" charset="-122"/>
                <a:cs typeface="Courier New" pitchFamily="34" charset="-120"/>
              </a:rPr>
              <a:t>&lt;parent&gt;-&lt;segment&gt;</a:t>
            </a:r>
            <a:endParaRPr lang="en-US" sz="1300" dirty="0"/>
          </a:p>
          <a:p>
            <a:pPr marL="342900" indent="-3429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No region: one compartment covers cas and jnb</a:t>
            </a:r>
            <a:endParaRPr lang="en-US" sz="1300" dirty="0"/>
          </a:p>
          <a:p>
            <a:pPr marL="342900" indent="-3429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No DR compartment: DR copies sit with their primary</a:t>
            </a:r>
            <a:endParaRPr lang="en-US" sz="1300" dirty="0"/>
          </a:p>
          <a:p>
            <a:pPr marL="342900" indent="-3429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No number, no type, no words like "Production"</a:t>
            </a:r>
            <a:endParaRPr lang="en-US" sz="1300" dirty="0"/>
          </a:p>
          <a:p>
            <a:pPr marL="342900" indent="-3429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Created by the Cloud team on request</a:t>
            </a:r>
            <a:endParaRPr lang="en-US" sz="1300" dirty="0"/>
          </a:p>
        </p:txBody>
      </p:sp>
      <p:sp>
        <p:nvSpPr>
          <p:cNvPr id="7" name="Text 5"/>
          <p:cNvSpPr txBox="1"/>
          <p:nvPr/>
        </p:nvSpPr>
        <p:spPr>
          <a:xfrm>
            <a:off x="457200" y="4800600"/>
            <a:ext cx="4572000" cy="228600"/>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OCI Naming Standard  ·  cmr</a:t>
            </a:r>
            <a:endParaRPr lang="en-US" sz="900" dirty="0"/>
          </a:p>
        </p:txBody>
      </p:sp>
      <p:sp>
        <p:nvSpPr>
          <p:cNvPr id="8" name="Text 6"/>
          <p:cNvSpPr txBox="1"/>
          <p:nvPr/>
        </p:nvSpPr>
        <p:spPr>
          <a:xfrm>
            <a:off x="8229600" y="4800600"/>
            <a:ext cx="457200" cy="228600"/>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4213D"/>
                </a:solidFill>
                <a:latin typeface="Calibri" pitchFamily="34" charset="0"/>
                <a:ea typeface="Calibri" pitchFamily="34" charset="-122"/>
                <a:cs typeface="Calibri" pitchFamily="34" charset="-120"/>
              </a:rPr>
              <a:t>Do and don’t</a:t>
            </a:r>
            <a:endParaRPr lang="en-US" sz="2800" dirty="0"/>
          </a:p>
        </p:txBody>
      </p:sp>
      <p:sp>
        <p:nvSpPr>
          <p:cNvPr id="3" name="Shape 1"/>
          <p:cNvSpPr/>
          <p:nvPr/>
        </p:nvSpPr>
        <p:spPr>
          <a:xfrm>
            <a:off x="457200" y="1143000"/>
            <a:ext cx="4023360" cy="2926080"/>
          </a:xfrm>
          <a:prstGeom prst="roundRect">
            <a:avLst>
              <a:gd name="adj" fmla="val 1875"/>
            </a:avLst>
          </a:prstGeom>
          <a:solidFill>
            <a:srgbClr val="E7F1E8"/>
          </a:solidFill>
          <a:ln w="12700">
            <a:solidFill>
              <a:srgbClr val="E7F1E8"/>
            </a:solidFill>
            <a:prstDash val="solid"/>
          </a:ln>
        </p:spPr>
      </p:sp>
      <p:sp>
        <p:nvSpPr>
          <p:cNvPr id="4" name="Shape 2"/>
          <p:cNvSpPr/>
          <p:nvPr/>
        </p:nvSpPr>
        <p:spPr>
          <a:xfrm>
            <a:off x="4663440" y="1143000"/>
            <a:ext cx="4023360" cy="2926080"/>
          </a:xfrm>
          <a:prstGeom prst="roundRect">
            <a:avLst>
              <a:gd name="adj" fmla="val 1875"/>
            </a:avLst>
          </a:prstGeom>
          <a:solidFill>
            <a:srgbClr val="FBE9E7"/>
          </a:solidFill>
          <a:ln w="12700">
            <a:solidFill>
              <a:srgbClr val="FBE9E7"/>
            </a:solidFill>
            <a:prstDash val="solid"/>
          </a:ln>
        </p:spPr>
      </p:sp>
      <p:sp>
        <p:nvSpPr>
          <p:cNvPr id="5" name="Text 3"/>
          <p:cNvSpPr txBox="1"/>
          <p:nvPr/>
        </p:nvSpPr>
        <p:spPr>
          <a:xfrm>
            <a:off x="640080" y="1234440"/>
            <a:ext cx="3657600" cy="365760"/>
          </a:xfrm>
          <a:prstGeom prst="rect">
            <a:avLst/>
          </a:prstGeom>
          <a:noFill/>
          <a:ln/>
        </p:spPr>
        <p:txBody>
          <a:bodyPr wrap="square" lIns="0" tIns="0" rIns="0" bIns="0" rtlCol="0" anchor="ctr"/>
          <a:lstStyle/>
          <a:p>
            <a:pPr marL="0" indent="0">
              <a:buNone/>
            </a:pPr>
            <a:r>
              <a:rPr lang="en-US" sz="1800" b="1" dirty="0">
                <a:solidFill>
                  <a:srgbClr val="3A7D44"/>
                </a:solidFill>
                <a:latin typeface="Calibri" pitchFamily="34" charset="0"/>
                <a:ea typeface="Calibri" pitchFamily="34" charset="-122"/>
                <a:cs typeface="Calibri" pitchFamily="34" charset="-120"/>
              </a:rPr>
              <a:t>Do</a:t>
            </a:r>
            <a:endParaRPr lang="en-US" sz="1800" dirty="0"/>
          </a:p>
        </p:txBody>
      </p:sp>
      <p:sp>
        <p:nvSpPr>
          <p:cNvPr id="6" name="Text 4"/>
          <p:cNvSpPr txBox="1"/>
          <p:nvPr/>
        </p:nvSpPr>
        <p:spPr>
          <a:xfrm>
            <a:off x="4846320" y="1234440"/>
            <a:ext cx="3657600" cy="365760"/>
          </a:xfrm>
          <a:prstGeom prst="rect">
            <a:avLst/>
          </a:prstGeom>
          <a:noFill/>
          <a:ln/>
        </p:spPr>
        <p:txBody>
          <a:bodyPr wrap="square" lIns="0" tIns="0" rIns="0" bIns="0" rtlCol="0" anchor="ctr"/>
          <a:lstStyle/>
          <a:p>
            <a:pPr marL="0" indent="0">
              <a:buNone/>
            </a:pPr>
            <a:r>
              <a:rPr lang="en-US" sz="1800" b="1" dirty="0">
                <a:solidFill>
                  <a:srgbClr val="C74634"/>
                </a:solidFill>
                <a:latin typeface="Calibri" pitchFamily="34" charset="0"/>
                <a:ea typeface="Calibri" pitchFamily="34" charset="-122"/>
                <a:cs typeface="Calibri" pitchFamily="34" charset="-120"/>
              </a:rPr>
              <a:t>Don’t</a:t>
            </a:r>
            <a:endParaRPr lang="en-US" sz="1800" dirty="0"/>
          </a:p>
        </p:txBody>
      </p:sp>
      <p:sp>
        <p:nvSpPr>
          <p:cNvPr id="7" name="Text 5"/>
          <p:cNvSpPr txBox="1"/>
          <p:nvPr/>
        </p:nvSpPr>
        <p:spPr>
          <a:xfrm>
            <a:off x="640080" y="1691640"/>
            <a:ext cx="365760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Use the Terraform module or the Name Builder</a:t>
            </a:r>
            <a:endParaRPr lang="en-US" sz="1400" dirty="0"/>
          </a:p>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Pick every value from the lists</a:t>
            </a:r>
            <a:endParaRPr lang="en-US" sz="1400" dirty="0"/>
          </a:p>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Same name, other region for DR</a:t>
            </a:r>
            <a:endParaRPr lang="en-US" sz="1400" dirty="0"/>
          </a:p>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Take the next number when rebuilding</a:t>
            </a:r>
            <a:endParaRPr lang="en-US" sz="1400" dirty="0"/>
          </a:p>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Ask the Cloud CoE for a missing code</a:t>
            </a:r>
            <a:endParaRPr lang="en-US" sz="1400" dirty="0"/>
          </a:p>
        </p:txBody>
      </p:sp>
      <p:sp>
        <p:nvSpPr>
          <p:cNvPr id="8" name="Text 6"/>
          <p:cNvSpPr txBox="1"/>
          <p:nvPr/>
        </p:nvSpPr>
        <p:spPr>
          <a:xfrm>
            <a:off x="4846320" y="1691640"/>
            <a:ext cx="365760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new, old, final, temp, test, v2, copy</a:t>
            </a:r>
            <a:endParaRPr lang="en-US" sz="1400" dirty="0"/>
          </a:p>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primary, standby, dr in a name</a:t>
            </a:r>
            <a:endParaRPr lang="en-US" sz="1400" dirty="0"/>
          </a:p>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Versions: ol8, win2022, 19c</a:t>
            </a:r>
            <a:endParaRPr lang="en-US" sz="1400" dirty="0"/>
          </a:p>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People, customers, projects, IPs</a:t>
            </a:r>
            <a:endParaRPr lang="en-US" sz="1400" dirty="0"/>
          </a:p>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Uppercase, spaces, underscores</a:t>
            </a:r>
            <a:endParaRPr lang="en-US" sz="1400" dirty="0"/>
          </a:p>
        </p:txBody>
      </p:sp>
      <p:sp>
        <p:nvSpPr>
          <p:cNvPr id="9" name="Text 7"/>
          <p:cNvSpPr txBox="1"/>
          <p:nvPr/>
        </p:nvSpPr>
        <p:spPr>
          <a:xfrm>
            <a:off x="457200" y="4800600"/>
            <a:ext cx="4572000" cy="228600"/>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OCI Naming Standard  ·  cmr</a:t>
            </a:r>
            <a:endParaRPr lang="en-US" sz="900" dirty="0"/>
          </a:p>
        </p:txBody>
      </p:sp>
      <p:sp>
        <p:nvSpPr>
          <p:cNvPr id="10" name="Text 8"/>
          <p:cNvSpPr txBox="1"/>
          <p:nvPr/>
        </p:nvSpPr>
        <p:spPr>
          <a:xfrm>
            <a:off x="8229600" y="4800600"/>
            <a:ext cx="457200" cy="228600"/>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4213D"/>
                </a:solidFill>
                <a:latin typeface="Calibri" pitchFamily="34" charset="0"/>
                <a:ea typeface="Calibri" pitchFamily="34" charset="-122"/>
                <a:cs typeface="Calibri" pitchFamily="34" charset="-120"/>
              </a:rPr>
              <a:t>Your toolkit</a:t>
            </a:r>
            <a:endParaRPr lang="en-US" sz="2800" dirty="0"/>
          </a:p>
        </p:txBody>
      </p:sp>
      <p:sp>
        <p:nvSpPr>
          <p:cNvPr id="3" name="Shape 1"/>
          <p:cNvSpPr/>
          <p:nvPr/>
        </p:nvSpPr>
        <p:spPr>
          <a:xfrm>
            <a:off x="457200" y="1188720"/>
            <a:ext cx="4023360" cy="1417320"/>
          </a:xfrm>
          <a:prstGeom prst="roundRect">
            <a:avLst>
              <a:gd name="adj" fmla="val 3871"/>
            </a:avLst>
          </a:prstGeom>
          <a:solidFill>
            <a:srgbClr val="F4F5F7"/>
          </a:solidFill>
          <a:ln w="12700">
            <a:solidFill>
              <a:srgbClr val="F4F5F7"/>
            </a:solidFill>
            <a:prstDash val="solid"/>
          </a:ln>
        </p:spPr>
      </p:sp>
      <p:sp>
        <p:nvSpPr>
          <p:cNvPr id="4" name="Shape 2"/>
          <p:cNvSpPr/>
          <p:nvPr/>
        </p:nvSpPr>
        <p:spPr>
          <a:xfrm>
            <a:off x="640080" y="1371600"/>
            <a:ext cx="411480" cy="411480"/>
          </a:xfrm>
          <a:prstGeom prst="ellipse">
            <a:avLst/>
          </a:prstGeom>
          <a:solidFill>
            <a:srgbClr val="3A7D44"/>
          </a:solidFill>
          <a:ln w="12700">
            <a:solidFill>
              <a:srgbClr val="3A7D44"/>
            </a:solidFill>
            <a:prstDash val="solid"/>
          </a:ln>
        </p:spPr>
      </p:sp>
      <p:sp>
        <p:nvSpPr>
          <p:cNvPr id="5" name="Text 3"/>
          <p:cNvSpPr txBox="1"/>
          <p:nvPr/>
        </p:nvSpPr>
        <p:spPr>
          <a:xfrm>
            <a:off x="1188720" y="1371600"/>
            <a:ext cx="3108960" cy="411480"/>
          </a:xfrm>
          <a:prstGeom prst="rect">
            <a:avLst/>
          </a:prstGeom>
          <a:noFill/>
          <a:ln/>
        </p:spPr>
        <p:txBody>
          <a:bodyPr wrap="square" lIns="0" tIns="0" rIns="0" bIns="0" rtlCol="0" anchor="ctr"/>
          <a:lstStyle/>
          <a:p>
            <a:pPr marL="0" indent="0">
              <a:buNone/>
            </a:pPr>
            <a:r>
              <a:rPr lang="en-US" sz="1600" b="1" dirty="0">
                <a:solidFill>
                  <a:srgbClr val="14213D"/>
                </a:solidFill>
                <a:latin typeface="Calibri" pitchFamily="34" charset="0"/>
                <a:ea typeface="Calibri" pitchFamily="34" charset="-122"/>
                <a:cs typeface="Calibri" pitchFamily="34" charset="-120"/>
              </a:rPr>
              <a:t>Name Builder</a:t>
            </a:r>
            <a:endParaRPr lang="en-US" sz="1600" dirty="0"/>
          </a:p>
        </p:txBody>
      </p:sp>
      <p:sp>
        <p:nvSpPr>
          <p:cNvPr id="6" name="Text 4"/>
          <p:cNvSpPr txBox="1"/>
          <p:nvPr/>
        </p:nvSpPr>
        <p:spPr>
          <a:xfrm>
            <a:off x="640080" y="1901952"/>
            <a:ext cx="3749040" cy="274320"/>
          </a:xfrm>
          <a:prstGeom prst="rect">
            <a:avLst/>
          </a:prstGeom>
          <a:noFill/>
          <a:ln/>
        </p:spPr>
        <p:txBody>
          <a:bodyPr wrap="square" lIns="0" tIns="0" rIns="0" bIns="0" rtlCol="0" anchor="ctr"/>
          <a:lstStyle/>
          <a:p>
            <a:pPr marL="0" indent="0">
              <a:buNone/>
            </a:pPr>
            <a:r>
              <a:rPr lang="en-US" sz="1000" dirty="0">
                <a:solidFill>
                  <a:srgbClr val="5B6B7F"/>
                </a:solidFill>
                <a:latin typeface="Courier New" pitchFamily="34" charset="0"/>
                <a:ea typeface="Courier New" pitchFamily="34" charset="-122"/>
                <a:cs typeface="Courier New" pitchFamily="34" charset="-120"/>
              </a:rPr>
              <a:t>OCI_Naming_Qualifier_Codes.xlsx</a:t>
            </a:r>
            <a:endParaRPr lang="en-US" sz="1000" dirty="0"/>
          </a:p>
        </p:txBody>
      </p:sp>
      <p:sp>
        <p:nvSpPr>
          <p:cNvPr id="7" name="Text 5"/>
          <p:cNvSpPr txBox="1"/>
          <p:nvPr/>
        </p:nvSpPr>
        <p:spPr>
          <a:xfrm>
            <a:off x="640080" y="2194560"/>
            <a:ext cx="3749040" cy="320040"/>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Drop-down lists build and check the name for you</a:t>
            </a:r>
            <a:endParaRPr lang="en-US" sz="1200" dirty="0"/>
          </a:p>
        </p:txBody>
      </p:sp>
      <p:sp>
        <p:nvSpPr>
          <p:cNvPr id="8" name="Shape 6"/>
          <p:cNvSpPr/>
          <p:nvPr/>
        </p:nvSpPr>
        <p:spPr>
          <a:xfrm>
            <a:off x="4663440" y="1188720"/>
            <a:ext cx="4023360" cy="1417320"/>
          </a:xfrm>
          <a:prstGeom prst="roundRect">
            <a:avLst>
              <a:gd name="adj" fmla="val 3871"/>
            </a:avLst>
          </a:prstGeom>
          <a:solidFill>
            <a:srgbClr val="F4F5F7"/>
          </a:solidFill>
          <a:ln w="12700">
            <a:solidFill>
              <a:srgbClr val="F4F5F7"/>
            </a:solidFill>
            <a:prstDash val="solid"/>
          </a:ln>
        </p:spPr>
      </p:sp>
      <p:sp>
        <p:nvSpPr>
          <p:cNvPr id="9" name="Shape 7"/>
          <p:cNvSpPr/>
          <p:nvPr/>
        </p:nvSpPr>
        <p:spPr>
          <a:xfrm>
            <a:off x="4846320" y="1371600"/>
            <a:ext cx="411480" cy="411480"/>
          </a:xfrm>
          <a:prstGeom prst="ellipse">
            <a:avLst/>
          </a:prstGeom>
          <a:solidFill>
            <a:srgbClr val="C74634"/>
          </a:solidFill>
          <a:ln w="12700">
            <a:solidFill>
              <a:srgbClr val="C74634"/>
            </a:solidFill>
            <a:prstDash val="solid"/>
          </a:ln>
        </p:spPr>
      </p:sp>
      <p:sp>
        <p:nvSpPr>
          <p:cNvPr id="10" name="Text 8"/>
          <p:cNvSpPr txBox="1"/>
          <p:nvPr/>
        </p:nvSpPr>
        <p:spPr>
          <a:xfrm>
            <a:off x="5394960" y="1371600"/>
            <a:ext cx="3108960" cy="411480"/>
          </a:xfrm>
          <a:prstGeom prst="rect">
            <a:avLst/>
          </a:prstGeom>
          <a:noFill/>
          <a:ln/>
        </p:spPr>
        <p:txBody>
          <a:bodyPr wrap="square" lIns="0" tIns="0" rIns="0" bIns="0" rtlCol="0" anchor="ctr"/>
          <a:lstStyle/>
          <a:p>
            <a:pPr marL="0" indent="0">
              <a:buNone/>
            </a:pPr>
            <a:r>
              <a:rPr lang="en-US" sz="1600" b="1" dirty="0">
                <a:solidFill>
                  <a:srgbClr val="14213D"/>
                </a:solidFill>
                <a:latin typeface="Calibri" pitchFamily="34" charset="0"/>
                <a:ea typeface="Calibri" pitchFamily="34" charset="-122"/>
                <a:cs typeface="Calibri" pitchFamily="34" charset="-120"/>
              </a:rPr>
              <a:t>Resource type codes</a:t>
            </a:r>
            <a:endParaRPr lang="en-US" sz="1600" dirty="0"/>
          </a:p>
        </p:txBody>
      </p:sp>
      <p:sp>
        <p:nvSpPr>
          <p:cNvPr id="11" name="Text 9"/>
          <p:cNvSpPr txBox="1"/>
          <p:nvPr/>
        </p:nvSpPr>
        <p:spPr>
          <a:xfrm>
            <a:off x="4846320" y="1901952"/>
            <a:ext cx="3749040" cy="274320"/>
          </a:xfrm>
          <a:prstGeom prst="rect">
            <a:avLst/>
          </a:prstGeom>
          <a:noFill/>
          <a:ln/>
        </p:spPr>
        <p:txBody>
          <a:bodyPr wrap="square" lIns="0" tIns="0" rIns="0" bIns="0" rtlCol="0" anchor="ctr"/>
          <a:lstStyle/>
          <a:p>
            <a:pPr marL="0" indent="0">
              <a:buNone/>
            </a:pPr>
            <a:r>
              <a:rPr lang="en-US" sz="1000" dirty="0">
                <a:solidFill>
                  <a:srgbClr val="5B6B7F"/>
                </a:solidFill>
                <a:latin typeface="Courier New" pitchFamily="34" charset="0"/>
                <a:ea typeface="Courier New" pitchFamily="34" charset="-122"/>
                <a:cs typeface="Courier New" pitchFamily="34" charset="-120"/>
              </a:rPr>
              <a:t>OCI_Naming_Resource_Type_Codes.xlsx</a:t>
            </a:r>
            <a:endParaRPr lang="en-US" sz="1000" dirty="0"/>
          </a:p>
        </p:txBody>
      </p:sp>
      <p:sp>
        <p:nvSpPr>
          <p:cNvPr id="12" name="Text 10"/>
          <p:cNvSpPr txBox="1"/>
          <p:nvPr/>
        </p:nvSpPr>
        <p:spPr>
          <a:xfrm>
            <a:off x="4846320" y="2194560"/>
            <a:ext cx="3749040" cy="320040"/>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All 109 types, codes, qualifier rule, example</a:t>
            </a:r>
            <a:endParaRPr lang="en-US" sz="1200" dirty="0"/>
          </a:p>
        </p:txBody>
      </p:sp>
      <p:sp>
        <p:nvSpPr>
          <p:cNvPr id="13" name="Shape 11"/>
          <p:cNvSpPr/>
          <p:nvPr/>
        </p:nvSpPr>
        <p:spPr>
          <a:xfrm>
            <a:off x="457200" y="2788920"/>
            <a:ext cx="4023360" cy="1417320"/>
          </a:xfrm>
          <a:prstGeom prst="roundRect">
            <a:avLst>
              <a:gd name="adj" fmla="val 3871"/>
            </a:avLst>
          </a:prstGeom>
          <a:solidFill>
            <a:srgbClr val="F4F5F7"/>
          </a:solidFill>
          <a:ln w="12700">
            <a:solidFill>
              <a:srgbClr val="F4F5F7"/>
            </a:solidFill>
            <a:prstDash val="solid"/>
          </a:ln>
        </p:spPr>
      </p:sp>
      <p:sp>
        <p:nvSpPr>
          <p:cNvPr id="14" name="Shape 12"/>
          <p:cNvSpPr/>
          <p:nvPr/>
        </p:nvSpPr>
        <p:spPr>
          <a:xfrm>
            <a:off x="640080" y="2971800"/>
            <a:ext cx="411480" cy="411480"/>
          </a:xfrm>
          <a:prstGeom prst="ellipse">
            <a:avLst/>
          </a:prstGeom>
          <a:solidFill>
            <a:srgbClr val="0F7B8A"/>
          </a:solidFill>
          <a:ln w="12700">
            <a:solidFill>
              <a:srgbClr val="0F7B8A"/>
            </a:solidFill>
            <a:prstDash val="solid"/>
          </a:ln>
        </p:spPr>
      </p:sp>
      <p:sp>
        <p:nvSpPr>
          <p:cNvPr id="15" name="Text 13"/>
          <p:cNvSpPr txBox="1"/>
          <p:nvPr/>
        </p:nvSpPr>
        <p:spPr>
          <a:xfrm>
            <a:off x="1188720" y="2971800"/>
            <a:ext cx="3108960" cy="411480"/>
          </a:xfrm>
          <a:prstGeom prst="rect">
            <a:avLst/>
          </a:prstGeom>
          <a:noFill/>
          <a:ln/>
        </p:spPr>
        <p:txBody>
          <a:bodyPr wrap="square" lIns="0" tIns="0" rIns="0" bIns="0" rtlCol="0" anchor="ctr"/>
          <a:lstStyle/>
          <a:p>
            <a:pPr marL="0" indent="0">
              <a:buNone/>
            </a:pPr>
            <a:r>
              <a:rPr lang="en-US" sz="1600" b="1" dirty="0">
                <a:solidFill>
                  <a:srgbClr val="14213D"/>
                </a:solidFill>
                <a:latin typeface="Calibri" pitchFamily="34" charset="0"/>
                <a:ea typeface="Calibri" pitchFamily="34" charset="-122"/>
                <a:cs typeface="Calibri" pitchFamily="34" charset="-120"/>
              </a:rPr>
              <a:t>Qualifier guide</a:t>
            </a:r>
            <a:endParaRPr lang="en-US" sz="1600" dirty="0"/>
          </a:p>
        </p:txBody>
      </p:sp>
      <p:sp>
        <p:nvSpPr>
          <p:cNvPr id="16" name="Text 14"/>
          <p:cNvSpPr txBox="1"/>
          <p:nvPr/>
        </p:nvSpPr>
        <p:spPr>
          <a:xfrm>
            <a:off x="640080" y="3502152"/>
            <a:ext cx="3749040" cy="274320"/>
          </a:xfrm>
          <a:prstGeom prst="rect">
            <a:avLst/>
          </a:prstGeom>
          <a:noFill/>
          <a:ln/>
        </p:spPr>
        <p:txBody>
          <a:bodyPr wrap="square" lIns="0" tIns="0" rIns="0" bIns="0" rtlCol="0" anchor="ctr"/>
          <a:lstStyle/>
          <a:p>
            <a:pPr marL="0" indent="0">
              <a:buNone/>
            </a:pPr>
            <a:r>
              <a:rPr lang="en-US" sz="1000" dirty="0">
                <a:solidFill>
                  <a:srgbClr val="5B6B7F"/>
                </a:solidFill>
                <a:latin typeface="Courier New" pitchFamily="34" charset="0"/>
                <a:ea typeface="Courier New" pitchFamily="34" charset="-122"/>
                <a:cs typeface="Courier New" pitchFamily="34" charset="-120"/>
              </a:rPr>
              <a:t>OCI_Naming_Qualifier_Guide.txt</a:t>
            </a:r>
            <a:endParaRPr lang="en-US" sz="1000" dirty="0"/>
          </a:p>
        </p:txBody>
      </p:sp>
      <p:sp>
        <p:nvSpPr>
          <p:cNvPr id="17" name="Text 15"/>
          <p:cNvSpPr txBox="1"/>
          <p:nvPr/>
        </p:nvSpPr>
        <p:spPr>
          <a:xfrm>
            <a:off x="640080" y="3794760"/>
            <a:ext cx="3749040" cy="320040"/>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Every code and when to choose it</a:t>
            </a:r>
            <a:endParaRPr lang="en-US" sz="1200" dirty="0"/>
          </a:p>
        </p:txBody>
      </p:sp>
      <p:sp>
        <p:nvSpPr>
          <p:cNvPr id="18" name="Shape 16"/>
          <p:cNvSpPr/>
          <p:nvPr/>
        </p:nvSpPr>
        <p:spPr>
          <a:xfrm>
            <a:off x="4663440" y="2788920"/>
            <a:ext cx="4023360" cy="1417320"/>
          </a:xfrm>
          <a:prstGeom prst="roundRect">
            <a:avLst>
              <a:gd name="adj" fmla="val 3871"/>
            </a:avLst>
          </a:prstGeom>
          <a:solidFill>
            <a:srgbClr val="F4F5F7"/>
          </a:solidFill>
          <a:ln w="12700">
            <a:solidFill>
              <a:srgbClr val="F4F5F7"/>
            </a:solidFill>
            <a:prstDash val="solid"/>
          </a:ln>
        </p:spPr>
      </p:sp>
      <p:sp>
        <p:nvSpPr>
          <p:cNvPr id="19" name="Shape 17"/>
          <p:cNvSpPr/>
          <p:nvPr/>
        </p:nvSpPr>
        <p:spPr>
          <a:xfrm>
            <a:off x="4846320" y="2971800"/>
            <a:ext cx="411480" cy="411480"/>
          </a:xfrm>
          <a:prstGeom prst="ellipse">
            <a:avLst/>
          </a:prstGeom>
          <a:solidFill>
            <a:srgbClr val="6A4C93"/>
          </a:solidFill>
          <a:ln w="12700">
            <a:solidFill>
              <a:srgbClr val="6A4C93"/>
            </a:solidFill>
            <a:prstDash val="solid"/>
          </a:ln>
        </p:spPr>
      </p:sp>
      <p:sp>
        <p:nvSpPr>
          <p:cNvPr id="20" name="Text 18"/>
          <p:cNvSpPr txBox="1"/>
          <p:nvPr/>
        </p:nvSpPr>
        <p:spPr>
          <a:xfrm>
            <a:off x="5394960" y="2971800"/>
            <a:ext cx="3108960" cy="411480"/>
          </a:xfrm>
          <a:prstGeom prst="rect">
            <a:avLst/>
          </a:prstGeom>
          <a:noFill/>
          <a:ln/>
        </p:spPr>
        <p:txBody>
          <a:bodyPr wrap="square" lIns="0" tIns="0" rIns="0" bIns="0" rtlCol="0" anchor="ctr"/>
          <a:lstStyle/>
          <a:p>
            <a:pPr marL="0" indent="0">
              <a:buNone/>
            </a:pPr>
            <a:r>
              <a:rPr lang="en-US" sz="1600" b="1" dirty="0">
                <a:solidFill>
                  <a:srgbClr val="14213D"/>
                </a:solidFill>
                <a:latin typeface="Calibri" pitchFamily="34" charset="0"/>
                <a:ea typeface="Calibri" pitchFamily="34" charset="-122"/>
                <a:cs typeface="Calibri" pitchFamily="34" charset="-120"/>
              </a:rPr>
              <a:t>Compartment guide</a:t>
            </a:r>
            <a:endParaRPr lang="en-US" sz="1600" dirty="0"/>
          </a:p>
        </p:txBody>
      </p:sp>
      <p:sp>
        <p:nvSpPr>
          <p:cNvPr id="21" name="Text 19"/>
          <p:cNvSpPr txBox="1"/>
          <p:nvPr/>
        </p:nvSpPr>
        <p:spPr>
          <a:xfrm>
            <a:off x="4846320" y="3502152"/>
            <a:ext cx="3749040" cy="274320"/>
          </a:xfrm>
          <a:prstGeom prst="rect">
            <a:avLst/>
          </a:prstGeom>
          <a:noFill/>
          <a:ln/>
        </p:spPr>
        <p:txBody>
          <a:bodyPr wrap="square" lIns="0" tIns="0" rIns="0" bIns="0" rtlCol="0" anchor="ctr"/>
          <a:lstStyle/>
          <a:p>
            <a:pPr marL="0" indent="0">
              <a:buNone/>
            </a:pPr>
            <a:r>
              <a:rPr lang="en-US" sz="1000" dirty="0">
                <a:solidFill>
                  <a:srgbClr val="5B6B7F"/>
                </a:solidFill>
                <a:latin typeface="Courier New" pitchFamily="34" charset="0"/>
                <a:ea typeface="Courier New" pitchFamily="34" charset="-122"/>
                <a:cs typeface="Courier New" pitchFamily="34" charset="-120"/>
              </a:rPr>
              <a:t>OCI_Compartment_Naming_Guide.txt</a:t>
            </a:r>
            <a:endParaRPr lang="en-US" sz="1000" dirty="0"/>
          </a:p>
        </p:txBody>
      </p:sp>
      <p:sp>
        <p:nvSpPr>
          <p:cNvPr id="22" name="Text 20"/>
          <p:cNvSpPr txBox="1"/>
          <p:nvPr/>
        </p:nvSpPr>
        <p:spPr>
          <a:xfrm>
            <a:off x="4846320" y="3794760"/>
            <a:ext cx="3749040" cy="320040"/>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How compartments are named and requested</a:t>
            </a:r>
            <a:endParaRPr lang="en-US" sz="1200" dirty="0"/>
          </a:p>
        </p:txBody>
      </p:sp>
      <p:sp>
        <p:nvSpPr>
          <p:cNvPr id="23" name="Text 21"/>
          <p:cNvSpPr txBox="1"/>
          <p:nvPr/>
        </p:nvSpPr>
        <p:spPr>
          <a:xfrm>
            <a:off x="457200" y="4800600"/>
            <a:ext cx="4572000" cy="228600"/>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OCI Naming Standard  ·  cmr</a:t>
            </a:r>
            <a:endParaRPr lang="en-US" sz="900" dirty="0"/>
          </a:p>
        </p:txBody>
      </p:sp>
      <p:sp>
        <p:nvSpPr>
          <p:cNvPr id="24" name="Text 22"/>
          <p:cNvSpPr txBox="1"/>
          <p:nvPr/>
        </p:nvSpPr>
        <p:spPr>
          <a:xfrm>
            <a:off x="8229600" y="4800600"/>
            <a:ext cx="457200" cy="228600"/>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a:effectLst/>
      </p:bgPr>
    </p:bg>
    <p:spTree>
      <p:nvGrpSpPr>
        <p:cNvPr id="1" name=""/>
        <p:cNvGrpSpPr/>
        <p:nvPr/>
      </p:nvGrpSpPr>
      <p:grpSpPr>
        <a:xfrm>
          <a:off x="0" y="0"/>
          <a:ext cx="0" cy="0"/>
          <a:chOff x="0" y="0"/>
          <a:chExt cx="0" cy="0"/>
        </a:xfrm>
      </p:grpSpPr>
      <p:sp>
        <p:nvSpPr>
          <p:cNvPr id="2" name="Text 0"/>
          <p:cNvSpPr txBox="1"/>
          <p:nvPr/>
        </p:nvSpPr>
        <p:spPr>
          <a:xfrm>
            <a:off x="548640" y="1005840"/>
            <a:ext cx="8046720" cy="45720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Remember one line</a:t>
            </a:r>
            <a:endParaRPr lang="en-US" sz="2000" dirty="0"/>
          </a:p>
        </p:txBody>
      </p:sp>
      <p:sp>
        <p:nvSpPr>
          <p:cNvPr id="3" name="Text 1"/>
          <p:cNvSpPr txBox="1"/>
          <p:nvPr/>
        </p:nvSpPr>
        <p:spPr>
          <a:xfrm>
            <a:off x="548640" y="1600200"/>
            <a:ext cx="8046720" cy="548640"/>
          </a:xfrm>
          <a:prstGeom prst="rect">
            <a:avLst/>
          </a:prstGeom>
          <a:noFill/>
          <a:ln/>
        </p:spPr>
        <p:txBody>
          <a:bodyPr wrap="square" lIns="0" tIns="0" rIns="0" bIns="0" rtlCol="0" anchor="ctr"/>
          <a:lstStyle/>
          <a:p>
            <a:pPr marL="0" indent="0">
              <a:buNone/>
            </a:pPr>
            <a:r>
              <a:rPr lang="en-US" sz="2200" b="1" dirty="0">
                <a:solidFill>
                  <a:srgbClr val="FFFFFF"/>
                </a:solidFill>
                <a:latin typeface="Courier New" pitchFamily="34" charset="0"/>
                <a:ea typeface="Courier New" pitchFamily="34" charset="-122"/>
                <a:cs typeface="Courier New" pitchFamily="34" charset="-120"/>
              </a:rPr>
              <a:t>&lt;org&gt;-&lt;env&gt;-&lt;rgn&gt;-&lt;type&gt;-&lt;app&gt;[-&lt;qual&gt;]-&lt;nn&gt;</a:t>
            </a:r>
            <a:endParaRPr lang="en-US" sz="2200" dirty="0"/>
          </a:p>
        </p:txBody>
      </p:sp>
      <p:sp>
        <p:nvSpPr>
          <p:cNvPr id="4" name="Text 2"/>
          <p:cNvSpPr txBox="1"/>
          <p:nvPr/>
        </p:nvSpPr>
        <p:spPr>
          <a:xfrm>
            <a:off x="548640" y="2377440"/>
            <a:ext cx="8046720" cy="45720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Pick values from the lists  ·  never invent  ·  DR = other region, same name</a:t>
            </a:r>
            <a:endParaRPr lang="en-US" sz="1600" dirty="0"/>
          </a:p>
        </p:txBody>
      </p:sp>
      <p:sp>
        <p:nvSpPr>
          <p:cNvPr id="5" name="Text 3"/>
          <p:cNvSpPr txBox="1"/>
          <p:nvPr/>
        </p:nvSpPr>
        <p:spPr>
          <a:xfrm>
            <a:off x="548640" y="3474720"/>
            <a:ext cx="804672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Questions?</a:t>
            </a:r>
            <a:endParaRPr lang="en-US" sz="3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TotalTime>
  <Words>2428</Words>
  <Application>Microsoft Office PowerPoint</Application>
  <PresentationFormat>Affichage à l'écran (16:9)</PresentationFormat>
  <Paragraphs>394</Paragraphs>
  <Slides>18</Slides>
  <Notes>18</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18</vt:i4>
      </vt:variant>
    </vt:vector>
  </HeadingPairs>
  <TitlesOfParts>
    <vt:vector size="22" baseType="lpstr">
      <vt:lpstr>Arial</vt:lpstr>
      <vt:lpstr>Calibri</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OCI Resource Naming - How to name resources</dc:title>
  <dc:subject>PptxGenJS Presentation</dc:subject>
  <dc:creator>PptxGenJS</dc:creator>
  <cp:lastModifiedBy>User</cp:lastModifiedBy>
  <cp:revision>1</cp:revision>
  <dcterms:created xsi:type="dcterms:W3CDTF">2026-09-29T10:06:00Z</dcterms:created>
  <dcterms:modified xsi:type="dcterms:W3CDTF">2026-09-29T12:52:09Z</dcterms:modified>
</cp:coreProperties>
</file>